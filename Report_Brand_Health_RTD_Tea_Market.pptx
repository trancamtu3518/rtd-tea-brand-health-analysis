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68" r:id="rId5"/>
    <p:sldId id="269" r:id="rId6"/>
    <p:sldId id="259" r:id="rId7"/>
    <p:sldId id="270" r:id="rId8"/>
    <p:sldId id="271" r:id="rId9"/>
    <p:sldId id="272" r:id="rId10"/>
    <p:sldId id="273" r:id="rId11"/>
    <p:sldId id="274" r:id="rId12"/>
    <p:sldId id="260" r:id="rId13"/>
    <p:sldId id="261" r:id="rId14"/>
    <p:sldId id="262" r:id="rId15"/>
    <p:sldId id="263" r:id="rId16"/>
    <p:sldId id="264" r:id="rId17"/>
    <p:sldId id="265" r:id="rId18"/>
    <p:sldId id="266" r:id="rId19"/>
  </p:sldIdLst>
  <p:sldSz cx="12192000" cy="6858000"/>
  <p:notesSz cx="6858000" cy="9144000"/>
  <p:embeddedFontLst>
    <p:embeddedFont>
      <p:font typeface="Playfair Display" panose="020F0502020204030204" pitchFamily="2" charset="0"/>
      <p:regular r:id="rId21"/>
      <p:bold r:id="rId22"/>
      <p:italic r:id="rId23"/>
      <p:boldItalic r:id="rId24"/>
    </p:embeddedFont>
    <p:embeddedFont>
      <p:font typeface="Plus Jakarta Sans" panose="020B0604020202020204" charset="0"/>
      <p:regular r:id="rId25"/>
      <p:bold r:id="rId26"/>
      <p:italic r:id="rId27"/>
      <p:boldItalic r:id="rId28"/>
    </p:embeddedFont>
    <p:embeddedFont>
      <p:font typeface="Plus Jakarta Sans Medium" panose="020B0604020202020204" charset="0"/>
      <p:regular r:id="rId29"/>
      <p:bold r:id="rId30"/>
      <p:italic r:id="rId31"/>
      <p:boldItalic r:id="rId32"/>
    </p:embeddedFont>
    <p:embeddedFont>
      <p:font typeface="Plus Jakarta Sans SemiBold" panose="020B060402020202020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D34EAD-0A3B-4C89-AB27-54C1A5C1DCE5}">
  <a:tblStyle styleId="{21D34EAD-0A3B-4C89-AB27-54C1A5C1DCE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90" autoAdjust="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theme" Target="theme/theme1.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ần Cẩm Tú HUIT -" userId="0a5303bcb6dee6f7" providerId="LiveId" clId="{7B53462D-F47D-4DE1-9942-08D6BA704668}"/>
    <pc:docChg chg="custSel delSld modSld">
      <pc:chgData name="Trần Cẩm Tú HUIT -" userId="0a5303bcb6dee6f7" providerId="LiveId" clId="{7B53462D-F47D-4DE1-9942-08D6BA704668}" dt="2026-05-26T05:50:31.237" v="4" actId="47"/>
      <pc:docMkLst>
        <pc:docMk/>
      </pc:docMkLst>
      <pc:sldChg chg="delSp mod">
        <pc:chgData name="Trần Cẩm Tú HUIT -" userId="0a5303bcb6dee6f7" providerId="LiveId" clId="{7B53462D-F47D-4DE1-9942-08D6BA704668}" dt="2026-05-26T05:50:05.623" v="2" actId="478"/>
        <pc:sldMkLst>
          <pc:docMk/>
          <pc:sldMk cId="0" sldId="256"/>
        </pc:sldMkLst>
        <pc:spChg chg="del">
          <ac:chgData name="Trần Cẩm Tú HUIT -" userId="0a5303bcb6dee6f7" providerId="LiveId" clId="{7B53462D-F47D-4DE1-9942-08D6BA704668}" dt="2026-05-26T05:50:05.623" v="2" actId="478"/>
          <ac:spMkLst>
            <pc:docMk/>
            <pc:sldMk cId="0" sldId="256"/>
            <ac:spMk id="86" creationId="{00000000-0000-0000-0000-000000000000}"/>
          </ac:spMkLst>
        </pc:spChg>
        <pc:spChg chg="del">
          <ac:chgData name="Trần Cẩm Tú HUIT -" userId="0a5303bcb6dee6f7" providerId="LiveId" clId="{7B53462D-F47D-4DE1-9942-08D6BA704668}" dt="2026-05-26T05:50:02.394" v="0" actId="478"/>
          <ac:spMkLst>
            <pc:docMk/>
            <pc:sldMk cId="0" sldId="256"/>
            <ac:spMk id="89" creationId="{00000000-0000-0000-0000-000000000000}"/>
          </ac:spMkLst>
        </pc:spChg>
        <pc:picChg chg="del">
          <ac:chgData name="Trần Cẩm Tú HUIT -" userId="0a5303bcb6dee6f7" providerId="LiveId" clId="{7B53462D-F47D-4DE1-9942-08D6BA704668}" dt="2026-05-26T05:50:04.648" v="1" actId="478"/>
          <ac:picMkLst>
            <pc:docMk/>
            <pc:sldMk cId="0" sldId="256"/>
            <ac:picMk id="85" creationId="{00000000-0000-0000-0000-000000000000}"/>
          </ac:picMkLst>
        </pc:picChg>
      </pc:sldChg>
      <pc:sldChg chg="modSp del mod">
        <pc:chgData name="Trần Cẩm Tú HUIT -" userId="0a5303bcb6dee6f7" providerId="LiveId" clId="{7B53462D-F47D-4DE1-9942-08D6BA704668}" dt="2026-05-26T05:50:31.237" v="4" actId="47"/>
        <pc:sldMkLst>
          <pc:docMk/>
          <pc:sldMk cId="0" sldId="267"/>
        </pc:sldMkLst>
        <pc:spChg chg="mod">
          <ac:chgData name="Trần Cẩm Tú HUIT -" userId="0a5303bcb6dee6f7" providerId="LiveId" clId="{7B53462D-F47D-4DE1-9942-08D6BA704668}" dt="2026-05-26T05:50:21.448" v="3" actId="20577"/>
          <ac:spMkLst>
            <pc:docMk/>
            <pc:sldMk cId="0" sldId="267"/>
            <ac:spMk id="28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9767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6738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3338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8236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5651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7916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3044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83"/>
        <p:cNvGrpSpPr/>
        <p:nvPr/>
      </p:nvGrpSpPr>
      <p:grpSpPr>
        <a:xfrm>
          <a:off x="0" y="0"/>
          <a:ext cx="0" cy="0"/>
          <a:chOff x="0" y="0"/>
          <a:chExt cx="0" cy="0"/>
        </a:xfrm>
      </p:grpSpPr>
      <p:sp>
        <p:nvSpPr>
          <p:cNvPr id="87" name="Google Shape;87;p13"/>
          <p:cNvSpPr txBox="1"/>
          <p:nvPr/>
        </p:nvSpPr>
        <p:spPr>
          <a:xfrm>
            <a:off x="2309186" y="1736229"/>
            <a:ext cx="7573626" cy="1692771"/>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None/>
            </a:pPr>
            <a:r>
              <a:rPr lang="en-US" sz="4400" b="1" i="0" u="none" strike="noStrike" cap="none" dirty="0">
                <a:solidFill>
                  <a:srgbClr val="0F4C43"/>
                </a:solidFill>
                <a:latin typeface="Playfair Display"/>
                <a:ea typeface="Playfair Display"/>
                <a:cs typeface="Playfair Display"/>
                <a:sym typeface="Playfair Display"/>
              </a:rPr>
              <a:t>BÁO CÁO PHÂN TÍCH</a:t>
            </a:r>
            <a:br>
              <a:rPr lang="en-US" sz="2400" b="0" i="0" u="none" strike="noStrike" cap="none" dirty="0">
                <a:solidFill>
                  <a:schemeClr val="dk1"/>
                </a:solidFill>
                <a:latin typeface="Calibri"/>
                <a:ea typeface="Calibri"/>
                <a:cs typeface="Calibri"/>
                <a:sym typeface="Calibri"/>
              </a:rPr>
            </a:br>
            <a:r>
              <a:rPr lang="en-US" sz="4400" b="1" i="0" u="none" strike="noStrike" cap="none" dirty="0">
                <a:solidFill>
                  <a:srgbClr val="C97A53"/>
                </a:solidFill>
                <a:latin typeface="Playfair Display"/>
                <a:ea typeface="Playfair Display"/>
                <a:cs typeface="Playfair Display"/>
                <a:sym typeface="Playfair Display"/>
              </a:rPr>
              <a:t>SỨC KHỎE THƯƠNG HIỆU</a:t>
            </a:r>
            <a:endParaRPr sz="1800" dirty="0"/>
          </a:p>
        </p:txBody>
      </p:sp>
      <p:sp>
        <p:nvSpPr>
          <p:cNvPr id="88" name="Google Shape;88;p13"/>
          <p:cNvSpPr txBox="1"/>
          <p:nvPr/>
        </p:nvSpPr>
        <p:spPr>
          <a:xfrm>
            <a:off x="2357140" y="3665829"/>
            <a:ext cx="7477715" cy="787908"/>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0" i="0" u="none" strike="noStrike" cap="none" dirty="0" err="1">
                <a:solidFill>
                  <a:srgbClr val="4A5560"/>
                </a:solidFill>
                <a:latin typeface="Plus Jakarta Sans"/>
                <a:ea typeface="Plus Jakarta Sans"/>
                <a:cs typeface="Plus Jakarta Sans"/>
                <a:sym typeface="Plus Jakarta Sans"/>
              </a:rPr>
              <a:t>Nghiên</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cứu</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thị</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trường</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Trà</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uống</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liền</a:t>
            </a:r>
            <a:r>
              <a:rPr lang="en-US" sz="1600" b="0" i="0" u="none" strike="noStrike" cap="none" dirty="0">
                <a:solidFill>
                  <a:srgbClr val="4A5560"/>
                </a:solidFill>
                <a:latin typeface="Plus Jakarta Sans"/>
                <a:ea typeface="Plus Jakarta Sans"/>
                <a:cs typeface="Plus Jakarta Sans"/>
                <a:sym typeface="Plus Jakarta Sans"/>
              </a:rPr>
              <a:t> (RTD Tea) </a:t>
            </a:r>
            <a:r>
              <a:rPr lang="en-US" sz="1600" b="0" i="0" u="none" strike="noStrike" cap="none" dirty="0" err="1">
                <a:solidFill>
                  <a:srgbClr val="4A5560"/>
                </a:solidFill>
                <a:latin typeface="Plus Jakarta Sans"/>
                <a:ea typeface="Plus Jakarta Sans"/>
                <a:cs typeface="Plus Jakarta Sans"/>
                <a:sym typeface="Plus Jakarta Sans"/>
              </a:rPr>
              <a:t>Việt</a:t>
            </a:r>
            <a:r>
              <a:rPr lang="en-US" sz="1600" b="0" i="0" u="none" strike="noStrike" cap="none" dirty="0">
                <a:solidFill>
                  <a:srgbClr val="4A5560"/>
                </a:solidFill>
                <a:latin typeface="Plus Jakarta Sans"/>
                <a:ea typeface="Plus Jakarta Sans"/>
                <a:cs typeface="Plus Jakarta Sans"/>
                <a:sym typeface="Plus Jakarta Sans"/>
              </a:rPr>
              <a:t> Nam </a:t>
            </a:r>
            <a:r>
              <a:rPr lang="en-US" sz="1600" b="0" i="0" u="none" strike="noStrike" cap="none" dirty="0" err="1">
                <a:solidFill>
                  <a:srgbClr val="4A5560"/>
                </a:solidFill>
                <a:latin typeface="Plus Jakarta Sans"/>
                <a:ea typeface="Plus Jakarta Sans"/>
                <a:cs typeface="Plus Jakarta Sans"/>
                <a:sym typeface="Plus Jakarta Sans"/>
              </a:rPr>
              <a:t>giai</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đoạn</a:t>
            </a:r>
            <a:r>
              <a:rPr lang="en-US" sz="1600" b="0" i="0" u="none" strike="noStrike" cap="none" dirty="0">
                <a:solidFill>
                  <a:srgbClr val="4A5560"/>
                </a:solidFill>
                <a:latin typeface="Plus Jakarta Sans"/>
                <a:ea typeface="Plus Jakarta Sans"/>
                <a:cs typeface="Plus Jakarta Sans"/>
                <a:sym typeface="Plus Jakarta Sans"/>
              </a:rPr>
              <a:t> 2024 - 2025 </a:t>
            </a:r>
            <a:r>
              <a:rPr lang="en-US" sz="1600" b="0" i="0" u="none" strike="noStrike" cap="none" dirty="0" err="1">
                <a:solidFill>
                  <a:srgbClr val="4A5560"/>
                </a:solidFill>
                <a:latin typeface="Plus Jakarta Sans"/>
                <a:ea typeface="Plus Jakarta Sans"/>
                <a:cs typeface="Plus Jakarta Sans"/>
                <a:sym typeface="Plus Jakarta Sans"/>
              </a:rPr>
              <a:t>và</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giải</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pháp</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đột</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phá</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thị</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phần</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cho</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nhãn</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hàng</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Trà</a:t>
            </a:r>
            <a:r>
              <a:rPr lang="en-US" sz="1600" b="0" i="0" u="none" strike="noStrike" cap="none" dirty="0">
                <a:solidFill>
                  <a:srgbClr val="4A5560"/>
                </a:solidFill>
                <a:latin typeface="Plus Jakarta Sans"/>
                <a:ea typeface="Plus Jakarta Sans"/>
                <a:cs typeface="Plus Jakarta Sans"/>
                <a:sym typeface="Plus Jakarta Sans"/>
              </a:rPr>
              <a:t> Cozy</a:t>
            </a: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94"/>
        <p:cNvGrpSpPr/>
        <p:nvPr/>
      </p:nvGrpSpPr>
      <p:grpSpPr>
        <a:xfrm>
          <a:off x="0" y="0"/>
          <a:ext cx="0" cy="0"/>
          <a:chOff x="0" y="0"/>
          <a:chExt cx="0" cy="0"/>
        </a:xfrm>
      </p:grpSpPr>
      <p:sp>
        <p:nvSpPr>
          <p:cNvPr id="96" name="Google Shape;96;p14"/>
          <p:cNvSpPr txBox="1"/>
          <p:nvPr/>
        </p:nvSpPr>
        <p:spPr>
          <a:xfrm>
            <a:off x="4548414" y="1791964"/>
            <a:ext cx="3095172"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a:solidFill>
                  <a:srgbClr val="0F4C43"/>
                </a:solidFill>
                <a:latin typeface="Playfair Display"/>
                <a:ea typeface="Playfair Display"/>
                <a:cs typeface="Playfair Display"/>
                <a:sym typeface="Playfair Display"/>
              </a:rPr>
              <a:t>PHẦN I</a:t>
            </a:r>
            <a:endParaRPr sz="2400" dirty="0"/>
          </a:p>
        </p:txBody>
      </p:sp>
      <p:sp>
        <p:nvSpPr>
          <p:cNvPr id="97" name="Google Shape;97;p14"/>
          <p:cNvSpPr txBox="1"/>
          <p:nvPr/>
        </p:nvSpPr>
        <p:spPr>
          <a:xfrm>
            <a:off x="1420617" y="2647532"/>
            <a:ext cx="9350765" cy="98488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000" b="0" i="0" u="none" strike="noStrike" cap="none" dirty="0">
                <a:solidFill>
                  <a:srgbClr val="C97A53"/>
                </a:solidFill>
                <a:latin typeface="Plus Jakarta Sans Medium"/>
                <a:ea typeface="Plus Jakarta Sans Medium"/>
                <a:cs typeface="Plus Jakarta Sans Medium"/>
                <a:sym typeface="Plus Jakarta Sans Medium"/>
              </a:rPr>
              <a:t>BỐI CẢNH THỊ TRƯỜNG &amp; PHƯƠNG PHÁP NGHIÊN CỨU </a:t>
            </a:r>
            <a:br>
              <a:rPr lang="en-US" sz="2000" b="0" i="0" u="none" strike="noStrike" cap="none" dirty="0">
                <a:solidFill>
                  <a:srgbClr val="C97A53"/>
                </a:solidFill>
                <a:latin typeface="Plus Jakarta Sans Medium"/>
                <a:ea typeface="Plus Jakarta Sans Medium"/>
                <a:cs typeface="Plus Jakarta Sans Medium"/>
                <a:sym typeface="Plus Jakarta Sans Medium"/>
              </a:rPr>
            </a:br>
            <a:r>
              <a:rPr lang="en-US" sz="2000" b="0" i="0" u="none" strike="noStrike" cap="none" dirty="0">
                <a:solidFill>
                  <a:srgbClr val="C97A53"/>
                </a:solidFill>
                <a:latin typeface="Plus Jakarta Sans Medium"/>
                <a:ea typeface="Plus Jakarta Sans Medium"/>
                <a:cs typeface="Plus Jakarta Sans Medium"/>
                <a:sym typeface="Plus Jakarta Sans Medium"/>
              </a:rPr>
              <a:t>SƠ CẤP</a:t>
            </a:r>
            <a:endParaRPr sz="2400" dirty="0"/>
          </a:p>
        </p:txBody>
      </p:sp>
      <p:sp>
        <p:nvSpPr>
          <p:cNvPr id="98" name="Google Shape;98;p14"/>
          <p:cNvSpPr/>
          <p:nvPr/>
        </p:nvSpPr>
        <p:spPr>
          <a:xfrm>
            <a:off x="5315129" y="3836179"/>
            <a:ext cx="1561739" cy="38100"/>
          </a:xfrm>
          <a:prstGeom prst="rect">
            <a:avLst/>
          </a:prstGeom>
          <a:solidFill>
            <a:srgbClr val="C97A5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03"/>
        <p:cNvGrpSpPr/>
        <p:nvPr/>
      </p:nvGrpSpPr>
      <p:grpSpPr>
        <a:xfrm>
          <a:off x="0" y="0"/>
          <a:ext cx="0" cy="0"/>
          <a:chOff x="0" y="0"/>
          <a:chExt cx="0" cy="0"/>
        </a:xfrm>
      </p:grpSpPr>
      <p:sp>
        <p:nvSpPr>
          <p:cNvPr id="106" name="Google Shape;106;p15"/>
          <p:cNvSpPr txBox="1"/>
          <p:nvPr/>
        </p:nvSpPr>
        <p:spPr>
          <a:xfrm>
            <a:off x="580975" y="605247"/>
            <a:ext cx="6234604" cy="590931"/>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3200" b="1" i="0" u="none" strike="noStrike" cap="none" dirty="0" err="1">
                <a:solidFill>
                  <a:srgbClr val="0F4C43"/>
                </a:solidFill>
                <a:latin typeface="Playfair Display"/>
                <a:ea typeface="Playfair Display"/>
                <a:cs typeface="Playfair Display"/>
                <a:sym typeface="Playfair Display"/>
              </a:rPr>
              <a:t>Mô</a:t>
            </a:r>
            <a:r>
              <a:rPr lang="en-US" sz="3200" b="1" i="0" u="none" strike="noStrike" cap="none" dirty="0">
                <a:solidFill>
                  <a:srgbClr val="0F4C43"/>
                </a:solidFill>
                <a:latin typeface="Playfair Display"/>
                <a:ea typeface="Playfair Display"/>
                <a:cs typeface="Playfair Display"/>
                <a:sym typeface="Playfair Display"/>
              </a:rPr>
              <a:t> </a:t>
            </a:r>
            <a:r>
              <a:rPr lang="en-US" sz="3200" b="1" i="0" u="none" strike="noStrike" cap="none" dirty="0" err="1">
                <a:solidFill>
                  <a:srgbClr val="0F4C43"/>
                </a:solidFill>
                <a:latin typeface="Playfair Display"/>
                <a:ea typeface="Playfair Display"/>
                <a:cs typeface="Playfair Display"/>
                <a:sym typeface="Playfair Display"/>
              </a:rPr>
              <a:t>tả</a:t>
            </a:r>
            <a:r>
              <a:rPr lang="en-US" sz="3200" b="1" i="0" u="none" strike="noStrike" cap="none" dirty="0">
                <a:solidFill>
                  <a:srgbClr val="0F4C43"/>
                </a:solidFill>
                <a:latin typeface="Playfair Display"/>
                <a:ea typeface="Playfair Display"/>
                <a:cs typeface="Playfair Display"/>
                <a:sym typeface="Playfair Display"/>
              </a:rPr>
              <a:t> </a:t>
            </a:r>
            <a:r>
              <a:rPr lang="en-US" sz="3200" b="1" i="0" u="none" strike="noStrike" cap="none" dirty="0" err="1">
                <a:solidFill>
                  <a:srgbClr val="0F4C43"/>
                </a:solidFill>
                <a:latin typeface="Playfair Display"/>
                <a:ea typeface="Playfair Display"/>
                <a:cs typeface="Playfair Display"/>
                <a:sym typeface="Playfair Display"/>
              </a:rPr>
              <a:t>mẫu</a:t>
            </a:r>
            <a:r>
              <a:rPr lang="en-US" sz="3200" b="1" i="0" u="none" strike="noStrike" cap="none" dirty="0">
                <a:solidFill>
                  <a:srgbClr val="0F4C43"/>
                </a:solidFill>
                <a:latin typeface="Playfair Display"/>
                <a:ea typeface="Playfair Display"/>
                <a:cs typeface="Playfair Display"/>
                <a:sym typeface="Playfair Display"/>
              </a:rPr>
              <a:t> </a:t>
            </a:r>
            <a:r>
              <a:rPr lang="en-US" sz="3200" b="1" i="0" u="none" strike="noStrike" cap="none" dirty="0" err="1">
                <a:solidFill>
                  <a:srgbClr val="0F4C43"/>
                </a:solidFill>
                <a:latin typeface="Playfair Display"/>
                <a:ea typeface="Playfair Display"/>
                <a:cs typeface="Playfair Display"/>
                <a:sym typeface="Playfair Display"/>
              </a:rPr>
              <a:t>nghiên</a:t>
            </a:r>
            <a:r>
              <a:rPr lang="en-US" sz="3200" b="1" i="0" u="none" strike="noStrike" cap="none" dirty="0">
                <a:solidFill>
                  <a:srgbClr val="0F4C43"/>
                </a:solidFill>
                <a:latin typeface="Playfair Display"/>
                <a:ea typeface="Playfair Display"/>
                <a:cs typeface="Playfair Display"/>
                <a:sym typeface="Playfair Display"/>
              </a:rPr>
              <a:t> </a:t>
            </a:r>
            <a:r>
              <a:rPr lang="en-US" sz="3200" b="1" i="0" u="none" strike="noStrike" cap="none" dirty="0" err="1">
                <a:solidFill>
                  <a:srgbClr val="0F4C43"/>
                </a:solidFill>
                <a:latin typeface="Playfair Display"/>
                <a:ea typeface="Playfair Display"/>
                <a:cs typeface="Playfair Display"/>
                <a:sym typeface="Playfair Display"/>
              </a:rPr>
              <a:t>cứu</a:t>
            </a:r>
            <a:r>
              <a:rPr lang="en-US" sz="3200" b="1" i="0" u="none" strike="noStrike" cap="none" dirty="0">
                <a:solidFill>
                  <a:srgbClr val="0F4C43"/>
                </a:solidFill>
                <a:latin typeface="Playfair Display"/>
                <a:ea typeface="Playfair Display"/>
                <a:cs typeface="Playfair Display"/>
                <a:sym typeface="Playfair Display"/>
              </a:rPr>
              <a:t> n = 2,600</a:t>
            </a:r>
            <a:endParaRPr sz="1800" dirty="0"/>
          </a:p>
        </p:txBody>
      </p:sp>
      <p:graphicFrame>
        <p:nvGraphicFramePr>
          <p:cNvPr id="107" name="Google Shape;107;p15"/>
          <p:cNvGraphicFramePr/>
          <p:nvPr>
            <p:extLst>
              <p:ext uri="{D42A27DB-BD31-4B8C-83A1-F6EECF244321}">
                <p14:modId xmlns:p14="http://schemas.microsoft.com/office/powerpoint/2010/main" val="2067135129"/>
              </p:ext>
            </p:extLst>
          </p:nvPr>
        </p:nvGraphicFramePr>
        <p:xfrm>
          <a:off x="581025" y="1825023"/>
          <a:ext cx="11029900" cy="2792100"/>
        </p:xfrm>
        <a:graphic>
          <a:graphicData uri="http://schemas.openxmlformats.org/drawingml/2006/table">
            <a:tbl>
              <a:tblPr firstRow="1" bandRow="1">
                <a:tableStyleId>{2D5ABB26-0587-4C30-8999-92F81FD0307C}</a:tableStyleId>
              </a:tblPr>
              <a:tblGrid>
                <a:gridCol w="2757475">
                  <a:extLst>
                    <a:ext uri="{9D8B030D-6E8A-4147-A177-3AD203B41FA5}">
                      <a16:colId xmlns:a16="http://schemas.microsoft.com/office/drawing/2014/main" val="20000"/>
                    </a:ext>
                  </a:extLst>
                </a:gridCol>
                <a:gridCol w="2757475">
                  <a:extLst>
                    <a:ext uri="{9D8B030D-6E8A-4147-A177-3AD203B41FA5}">
                      <a16:colId xmlns:a16="http://schemas.microsoft.com/office/drawing/2014/main" val="20001"/>
                    </a:ext>
                  </a:extLst>
                </a:gridCol>
                <a:gridCol w="2757475">
                  <a:extLst>
                    <a:ext uri="{9D8B030D-6E8A-4147-A177-3AD203B41FA5}">
                      <a16:colId xmlns:a16="http://schemas.microsoft.com/office/drawing/2014/main" val="20002"/>
                    </a:ext>
                  </a:extLst>
                </a:gridCol>
                <a:gridCol w="2757475">
                  <a:extLst>
                    <a:ext uri="{9D8B030D-6E8A-4147-A177-3AD203B41FA5}">
                      <a16:colId xmlns:a16="http://schemas.microsoft.com/office/drawing/2014/main" val="20003"/>
                    </a:ext>
                  </a:extLst>
                </a:gridCol>
              </a:tblGrid>
              <a:tr h="455300">
                <a:tc>
                  <a:txBody>
                    <a:bodyPr/>
                    <a:lstStyle/>
                    <a:p>
                      <a:pPr marL="0" marR="0" lvl="0" indent="0" algn="ctr" rtl="0">
                        <a:spcBef>
                          <a:spcPts val="0"/>
                        </a:spcBef>
                        <a:spcAft>
                          <a:spcPts val="0"/>
                        </a:spcAft>
                        <a:buNone/>
                      </a:pP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Tiêu</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chí</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phân</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loại</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Chi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tiết</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phân</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bổ</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mẫu</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Tiêu</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chí</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phân</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loại</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1"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Chi tiết phân bổ mẫu</a:t>
                      </a:r>
                      <a:endParaRPr sz="28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55300">
                <a:tc>
                  <a:txBody>
                    <a:bodyPr/>
                    <a:lstStyle/>
                    <a:p>
                      <a:pPr marL="0" marR="0" lvl="0" indent="0" algn="ctr" rtl="0">
                        <a:spcBef>
                          <a:spcPts val="0"/>
                        </a:spcBef>
                        <a:spcAft>
                          <a:spcPts val="0"/>
                        </a:spcAft>
                        <a:buNone/>
                      </a:pP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Tổng</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kích</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thước</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mẫu</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2,600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đáp</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viên</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(RTD Tea Consumers)</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US" sz="1400" b="1"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Phân phối theo Waves</a:t>
                      </a:r>
                      <a:endParaRPr sz="28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Wave 2024: 1,300 | Wave 2025: 1,300</a:t>
                      </a:r>
                      <a:endParaRPr sz="28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55300">
                <a:tc>
                  <a:txBody>
                    <a:bodyPr/>
                    <a:lstStyle/>
                    <a:p>
                      <a:pPr marL="0" marR="0" lvl="0" indent="0" algn="ctr" rtl="0">
                        <a:spcBef>
                          <a:spcPts val="0"/>
                        </a:spcBef>
                        <a:spcAft>
                          <a:spcPts val="0"/>
                        </a:spcAft>
                        <a:buNone/>
                      </a:pP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Khu</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vực</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địa</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lý</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Hà</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Nội</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Bắc</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46% | TP.HCM (Nam): 23%</a:t>
                      </a:r>
                      <a:br>
                        <a:rPr lang="en-US" sz="360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b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Trung</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15% | Mekong Delta: 15%</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Thu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nhập</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gia</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đình</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(HGD)</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7.5 - 15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triệu</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VND: 44%</a:t>
                      </a:r>
                      <a:br>
                        <a:rPr lang="en-US" sz="360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b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15 - 30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triệu</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VND: 44%</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55300">
                <a:tc>
                  <a:txBody>
                    <a:bodyPr/>
                    <a:lstStyle/>
                    <a:p>
                      <a:pPr marL="0" marR="0" lvl="0" indent="0" algn="ctr" rtl="0">
                        <a:spcBef>
                          <a:spcPts val="0"/>
                        </a:spcBef>
                        <a:spcAft>
                          <a:spcPts val="0"/>
                        </a:spcAft>
                        <a:buNone/>
                      </a:pP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Cơ</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cấu</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giới</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tính</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Nữ</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giới</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61.3% | Nam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giới</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38.7%</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Độ</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tuổi</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tập</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trung</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30-34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tuổi</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(28.8%) | 19-24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tuổi</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(23.6%)</a:t>
                      </a:r>
                      <a:br>
                        <a:rPr lang="en-US" sz="360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b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25-29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tuổi</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(18.6%)</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55300">
                <a:tc>
                  <a:txBody>
                    <a:bodyPr/>
                    <a:lstStyle/>
                    <a:p>
                      <a:pPr marL="0" marR="0" lvl="0" indent="0" algn="ctr" rtl="0">
                        <a:spcBef>
                          <a:spcPts val="0"/>
                        </a:spcBef>
                        <a:spcAft>
                          <a:spcPts val="0"/>
                        </a:spcAft>
                        <a:buNone/>
                      </a:pP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Danh</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mục</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khảo</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sát</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Trà</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thảo</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mộc</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Trà</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xanh</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Trà</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Ô Long</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Hình</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thức</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khảo</a:t>
                      </a:r>
                      <a:r>
                        <a:rPr lang="en-US" sz="14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sát</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Bảng</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hỏi</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có</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cấu</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4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trúc</a:t>
                      </a:r>
                      <a:r>
                        <a:rPr lang="en-US" sz="14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(QNR), CAWI</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124" name="Google Shape;124;p15"/>
          <p:cNvSpPr txBox="1"/>
          <p:nvPr/>
        </p:nvSpPr>
        <p:spPr>
          <a:xfrm>
            <a:off x="580975" y="335639"/>
            <a:ext cx="1102995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dirty="0" err="1">
                <a:solidFill>
                  <a:srgbClr val="C97A53"/>
                </a:solidFill>
                <a:latin typeface="Plus Jakarta Sans SemiBold"/>
                <a:ea typeface="Plus Jakarta Sans SemiBold"/>
                <a:cs typeface="Plus Jakarta Sans SemiBold"/>
                <a:sym typeface="Plus Jakarta Sans SemiBold"/>
              </a:rPr>
              <a:t>Phương</a:t>
            </a:r>
            <a:r>
              <a:rPr lang="en-US" sz="16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600" b="0" i="0" u="none" strike="noStrike" cap="none" dirty="0" err="1">
                <a:solidFill>
                  <a:srgbClr val="C97A53"/>
                </a:solidFill>
                <a:latin typeface="Plus Jakarta Sans SemiBold"/>
                <a:ea typeface="Plus Jakarta Sans SemiBold"/>
                <a:cs typeface="Plus Jakarta Sans SemiBold"/>
                <a:sym typeface="Plus Jakarta Sans SemiBold"/>
              </a:rPr>
              <a:t>pháp</a:t>
            </a:r>
            <a:r>
              <a:rPr lang="en-US" sz="1600" b="0" i="0" u="none" strike="noStrike" cap="none" dirty="0">
                <a:solidFill>
                  <a:srgbClr val="C97A53"/>
                </a:solidFill>
                <a:latin typeface="Plus Jakarta Sans SemiBold"/>
                <a:ea typeface="Plus Jakarta Sans SemiBold"/>
                <a:cs typeface="Plus Jakarta Sans SemiBold"/>
                <a:sym typeface="Plus Jakarta Sans SemiBold"/>
              </a:rPr>
              <a:t> &amp; </a:t>
            </a:r>
            <a:r>
              <a:rPr lang="en-US" sz="1600" b="0" i="0" u="none" strike="noStrike" cap="none" dirty="0" err="1">
                <a:solidFill>
                  <a:srgbClr val="C97A53"/>
                </a:solidFill>
                <a:latin typeface="Plus Jakarta Sans SemiBold"/>
                <a:ea typeface="Plus Jakarta Sans SemiBold"/>
                <a:cs typeface="Plus Jakarta Sans SemiBold"/>
                <a:sym typeface="Plus Jakarta Sans SemiBold"/>
              </a:rPr>
              <a:t>Dữ</a:t>
            </a:r>
            <a:r>
              <a:rPr lang="en-US" sz="16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600" b="0" i="0" u="none" strike="noStrike" cap="none" dirty="0" err="1">
                <a:solidFill>
                  <a:srgbClr val="C97A53"/>
                </a:solidFill>
                <a:latin typeface="Plus Jakarta Sans SemiBold"/>
                <a:ea typeface="Plus Jakarta Sans SemiBold"/>
                <a:cs typeface="Plus Jakarta Sans SemiBold"/>
                <a:sym typeface="Plus Jakarta Sans SemiBold"/>
              </a:rPr>
              <a:t>liệu</a:t>
            </a:r>
            <a:endParaRPr sz="1800" dirty="0"/>
          </a:p>
        </p:txBody>
      </p:sp>
      <p:sp>
        <p:nvSpPr>
          <p:cNvPr id="125" name="Google Shape;125;p15"/>
          <p:cNvSpPr/>
          <p:nvPr/>
        </p:nvSpPr>
        <p:spPr>
          <a:xfrm>
            <a:off x="580975" y="1242952"/>
            <a:ext cx="11029950" cy="9525"/>
          </a:xfrm>
          <a:prstGeom prst="rect">
            <a:avLst/>
          </a:prstGeom>
          <a:solidFill>
            <a:srgbClr val="0F4C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03"/>
        <p:cNvGrpSpPr/>
        <p:nvPr/>
      </p:nvGrpSpPr>
      <p:grpSpPr>
        <a:xfrm>
          <a:off x="0" y="0"/>
          <a:ext cx="0" cy="0"/>
          <a:chOff x="0" y="0"/>
          <a:chExt cx="0" cy="0"/>
        </a:xfrm>
      </p:grpSpPr>
      <p:pic>
        <p:nvPicPr>
          <p:cNvPr id="1026" name="Picture 2">
            <a:extLst>
              <a:ext uri="{FF2B5EF4-FFF2-40B4-BE49-F238E27FC236}">
                <a16:creationId xmlns:a16="http://schemas.microsoft.com/office/drawing/2014/main" id="{4A640B64-7841-FA06-DD8A-BB84AF3F94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59" y="157315"/>
            <a:ext cx="12056882" cy="6543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8355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03"/>
        <p:cNvGrpSpPr/>
        <p:nvPr/>
      </p:nvGrpSpPr>
      <p:grpSpPr>
        <a:xfrm>
          <a:off x="0" y="0"/>
          <a:ext cx="0" cy="0"/>
          <a:chOff x="0" y="0"/>
          <a:chExt cx="0" cy="0"/>
        </a:xfrm>
      </p:grpSpPr>
      <p:pic>
        <p:nvPicPr>
          <p:cNvPr id="2" name="Picture 1">
            <a:extLst>
              <a:ext uri="{FF2B5EF4-FFF2-40B4-BE49-F238E27FC236}">
                <a16:creationId xmlns:a16="http://schemas.microsoft.com/office/drawing/2014/main" id="{2E2BFD2B-AA5A-BBA0-2EEA-20CC93C03F99}"/>
              </a:ext>
            </a:extLst>
          </p:cNvPr>
          <p:cNvPicPr>
            <a:picLocks noChangeAspect="1"/>
          </p:cNvPicPr>
          <p:nvPr/>
        </p:nvPicPr>
        <p:blipFill>
          <a:blip r:embed="rId3"/>
          <a:stretch>
            <a:fillRect/>
          </a:stretch>
        </p:blipFill>
        <p:spPr>
          <a:xfrm>
            <a:off x="0" y="14004"/>
            <a:ext cx="12192000" cy="6829992"/>
          </a:xfrm>
          <a:prstGeom prst="rect">
            <a:avLst/>
          </a:prstGeom>
        </p:spPr>
      </p:pic>
    </p:spTree>
    <p:extLst>
      <p:ext uri="{BB962C8B-B14F-4D97-AF65-F5344CB8AC3E}">
        <p14:creationId xmlns:p14="http://schemas.microsoft.com/office/powerpoint/2010/main" val="2968429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30"/>
        <p:cNvGrpSpPr/>
        <p:nvPr/>
      </p:nvGrpSpPr>
      <p:grpSpPr>
        <a:xfrm>
          <a:off x="0" y="0"/>
          <a:ext cx="0" cy="0"/>
          <a:chOff x="0" y="0"/>
          <a:chExt cx="0" cy="0"/>
        </a:xfrm>
      </p:grpSpPr>
      <p:pic>
        <p:nvPicPr>
          <p:cNvPr id="132" name="Google Shape;132;p16" descr="image.png"/>
          <p:cNvPicPr preferRelativeResize="0"/>
          <p:nvPr/>
        </p:nvPicPr>
        <p:blipFill rotWithShape="1">
          <a:blip r:embed="rId3">
            <a:alphaModFix/>
          </a:blip>
          <a:srcRect/>
          <a:stretch/>
        </p:blipFill>
        <p:spPr>
          <a:xfrm>
            <a:off x="364209" y="903098"/>
            <a:ext cx="11029950" cy="5158829"/>
          </a:xfrm>
          <a:prstGeom prst="rect">
            <a:avLst/>
          </a:prstGeom>
          <a:noFill/>
          <a:ln>
            <a:noFill/>
          </a:ln>
        </p:spPr>
      </p:pic>
      <p:sp>
        <p:nvSpPr>
          <p:cNvPr id="133" name="Google Shape;133;p16"/>
          <p:cNvSpPr txBox="1"/>
          <p:nvPr/>
        </p:nvSpPr>
        <p:spPr>
          <a:xfrm>
            <a:off x="581025" y="560889"/>
            <a:ext cx="7573161" cy="664797"/>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3600" b="1" i="0" u="none" strike="noStrike" cap="none" dirty="0">
                <a:solidFill>
                  <a:srgbClr val="0F4C43"/>
                </a:solidFill>
                <a:latin typeface="Playfair Display"/>
                <a:ea typeface="Playfair Display"/>
                <a:cs typeface="Playfair Display"/>
                <a:sym typeface="Playfair Display"/>
              </a:rPr>
              <a:t>Brand Funnel: </a:t>
            </a:r>
            <a:r>
              <a:rPr lang="en-US" sz="3600" b="1" i="0" u="none" strike="noStrike" cap="none" dirty="0" err="1">
                <a:solidFill>
                  <a:srgbClr val="0F4C43"/>
                </a:solidFill>
                <a:latin typeface="Playfair Display"/>
                <a:ea typeface="Playfair Display"/>
                <a:cs typeface="Playfair Display"/>
                <a:sym typeface="Playfair Display"/>
              </a:rPr>
              <a:t>Thống</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trị</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tuyệt</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đối</a:t>
            </a:r>
            <a:endParaRPr sz="2000" dirty="0"/>
          </a:p>
        </p:txBody>
      </p:sp>
      <p:sp>
        <p:nvSpPr>
          <p:cNvPr id="134" name="Google Shape;134;p16"/>
          <p:cNvSpPr txBox="1"/>
          <p:nvPr/>
        </p:nvSpPr>
        <p:spPr>
          <a:xfrm>
            <a:off x="581025" y="4906267"/>
            <a:ext cx="11029950" cy="192285"/>
          </a:xfrm>
          <a:prstGeom prst="rect">
            <a:avLst/>
          </a:prstGeom>
          <a:noFill/>
          <a:ln>
            <a:noFill/>
          </a:ln>
        </p:spPr>
        <p:txBody>
          <a:bodyPr spcFirstLastPara="1" wrap="square" lIns="0" tIns="0" rIns="0" bIns="0" anchor="t" anchorCtr="0">
            <a:spAutoFit/>
          </a:bodyPr>
          <a:lstStyle/>
          <a:p>
            <a:pPr marL="0" marR="0" lvl="0" indent="0" algn="ctr" rtl="0">
              <a:lnSpc>
                <a:spcPct val="159888"/>
              </a:lnSpc>
              <a:spcBef>
                <a:spcPts val="0"/>
              </a:spcBef>
              <a:spcAft>
                <a:spcPts val="0"/>
              </a:spcAft>
              <a:buNone/>
            </a:pPr>
            <a:r>
              <a:rPr lang="en-US" sz="900" b="0" i="1" u="none" strike="noStrike" cap="none" dirty="0" err="1">
                <a:solidFill>
                  <a:srgbClr val="6C7D8A"/>
                </a:solidFill>
                <a:latin typeface="Plus Jakarta Sans"/>
                <a:ea typeface="Plus Jakarta Sans"/>
                <a:cs typeface="Plus Jakarta Sans"/>
                <a:sym typeface="Plus Jakarta Sans"/>
              </a:rPr>
              <a:t>Thị</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trường</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có</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tính</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chất</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phân</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cực</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mạnh</a:t>
            </a:r>
            <a:r>
              <a:rPr lang="en-US" sz="900" b="0" i="1" u="none" strike="noStrike" cap="none" dirty="0">
                <a:solidFill>
                  <a:srgbClr val="6C7D8A"/>
                </a:solidFill>
                <a:latin typeface="Plus Jakarta Sans"/>
                <a:ea typeface="Plus Jakarta Sans"/>
                <a:cs typeface="Plus Jakarta Sans"/>
                <a:sym typeface="Plus Jakarta Sans"/>
              </a:rPr>
              <a:t> ("Winner-takes-most") </a:t>
            </a:r>
            <a:r>
              <a:rPr lang="en-US" sz="900" b="0" i="1" u="none" strike="noStrike" cap="none" dirty="0" err="1">
                <a:solidFill>
                  <a:srgbClr val="6C7D8A"/>
                </a:solidFill>
                <a:latin typeface="Plus Jakarta Sans"/>
                <a:ea typeface="Plus Jakarta Sans"/>
                <a:cs typeface="Plus Jakarta Sans"/>
                <a:sym typeface="Plus Jakarta Sans"/>
              </a:rPr>
              <a:t>rõ</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rệt</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bởi</a:t>
            </a:r>
            <a:r>
              <a:rPr lang="en-US" sz="900" b="0" i="1" u="none" strike="noStrike" cap="none" dirty="0">
                <a:solidFill>
                  <a:srgbClr val="6C7D8A"/>
                </a:solidFill>
                <a:latin typeface="Plus Jakarta Sans"/>
                <a:ea typeface="Plus Jakarta Sans"/>
                <a:cs typeface="Plus Jakarta Sans"/>
                <a:sym typeface="Plus Jakarta Sans"/>
              </a:rPr>
              <a:t> Big 2 (C2 &amp; </a:t>
            </a:r>
            <a:r>
              <a:rPr lang="en-US" sz="900" b="0" i="1" u="none" strike="noStrike" cap="none" dirty="0" err="1">
                <a:solidFill>
                  <a:srgbClr val="6C7D8A"/>
                </a:solidFill>
                <a:latin typeface="Plus Jakarta Sans"/>
                <a:ea typeface="Plus Jakarta Sans"/>
                <a:cs typeface="Plus Jakarta Sans"/>
                <a:sym typeface="Plus Jakarta Sans"/>
              </a:rPr>
              <a:t>OLong</a:t>
            </a:r>
            <a:r>
              <a:rPr lang="en-US" sz="900" b="0" i="1" u="none" strike="noStrike" cap="none" dirty="0">
                <a:solidFill>
                  <a:srgbClr val="6C7D8A"/>
                </a:solidFill>
                <a:latin typeface="Plus Jakarta Sans"/>
                <a:ea typeface="Plus Jakarta Sans"/>
                <a:cs typeface="Plus Jakarta Sans"/>
                <a:sym typeface="Plus Jakarta Sans"/>
              </a:rPr>
              <a:t> Tea Plus). Cozy </a:t>
            </a:r>
            <a:r>
              <a:rPr lang="en-US" sz="900" b="0" i="1" u="none" strike="noStrike" cap="none" dirty="0" err="1">
                <a:solidFill>
                  <a:srgbClr val="6C7D8A"/>
                </a:solidFill>
                <a:latin typeface="Plus Jakarta Sans"/>
                <a:ea typeface="Plus Jakarta Sans"/>
                <a:cs typeface="Plus Jakarta Sans"/>
                <a:sym typeface="Plus Jakarta Sans"/>
              </a:rPr>
              <a:t>giữ</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vị</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trí</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số</a:t>
            </a:r>
            <a:r>
              <a:rPr lang="en-US" sz="900" b="0" i="1" u="none" strike="noStrike" cap="none" dirty="0">
                <a:solidFill>
                  <a:srgbClr val="6C7D8A"/>
                </a:solidFill>
                <a:latin typeface="Plus Jakarta Sans"/>
                <a:ea typeface="Plus Jakarta Sans"/>
                <a:cs typeface="Plus Jakarta Sans"/>
                <a:sym typeface="Plus Jakarta Sans"/>
              </a:rPr>
              <a:t> 4 </a:t>
            </a:r>
            <a:r>
              <a:rPr lang="en-US" sz="900" b="0" i="1" u="none" strike="noStrike" cap="none" dirty="0" err="1">
                <a:solidFill>
                  <a:srgbClr val="6C7D8A"/>
                </a:solidFill>
                <a:latin typeface="Plus Jakarta Sans"/>
                <a:ea typeface="Plus Jakarta Sans"/>
                <a:cs typeface="Plus Jakarta Sans"/>
                <a:sym typeface="Plus Jakarta Sans"/>
              </a:rPr>
              <a:t>triển</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vọng</a:t>
            </a:r>
            <a:r>
              <a:rPr lang="en-US" sz="900" b="0" i="1" u="none" strike="noStrike" cap="none" dirty="0">
                <a:solidFill>
                  <a:srgbClr val="6C7D8A"/>
                </a:solidFill>
                <a:latin typeface="Plus Jakarta Sans"/>
                <a:ea typeface="Plus Jakarta Sans"/>
                <a:cs typeface="Plus Jakarta Sans"/>
                <a:sym typeface="Plus Jakarta Sans"/>
              </a:rPr>
              <a:t>.</a:t>
            </a:r>
            <a:endParaRPr dirty="0"/>
          </a:p>
        </p:txBody>
      </p:sp>
      <p:sp>
        <p:nvSpPr>
          <p:cNvPr id="135" name="Google Shape;135;p16"/>
          <p:cNvSpPr/>
          <p:nvPr/>
        </p:nvSpPr>
        <p:spPr>
          <a:xfrm>
            <a:off x="581025" y="4791967"/>
            <a:ext cx="11029950" cy="9525"/>
          </a:xfrm>
          <a:prstGeom prst="rect">
            <a:avLst/>
          </a:prstGeom>
          <a:solidFill>
            <a:srgbClr val="0F4C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 name="Google Shape;136;p16"/>
          <p:cNvSpPr txBox="1"/>
          <p:nvPr/>
        </p:nvSpPr>
        <p:spPr>
          <a:xfrm>
            <a:off x="581025" y="317614"/>
            <a:ext cx="110299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Tổng</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quan</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sức</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khỏe</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brand</a:t>
            </a:r>
            <a:endParaRPr sz="2000" dirty="0"/>
          </a:p>
        </p:txBody>
      </p:sp>
      <p:sp>
        <p:nvSpPr>
          <p:cNvPr id="137" name="Google Shape;137;p16"/>
          <p:cNvSpPr/>
          <p:nvPr/>
        </p:nvSpPr>
        <p:spPr>
          <a:xfrm>
            <a:off x="581025" y="1213395"/>
            <a:ext cx="11029950" cy="9525"/>
          </a:xfrm>
          <a:prstGeom prst="rect">
            <a:avLst/>
          </a:prstGeom>
          <a:solidFill>
            <a:srgbClr val="0F4C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03"/>
        <p:cNvGrpSpPr/>
        <p:nvPr/>
      </p:nvGrpSpPr>
      <p:grpSpPr>
        <a:xfrm>
          <a:off x="0" y="0"/>
          <a:ext cx="0" cy="0"/>
          <a:chOff x="0" y="0"/>
          <a:chExt cx="0" cy="0"/>
        </a:xfrm>
      </p:grpSpPr>
      <p:pic>
        <p:nvPicPr>
          <p:cNvPr id="3" name="Picture 2">
            <a:extLst>
              <a:ext uri="{FF2B5EF4-FFF2-40B4-BE49-F238E27FC236}">
                <a16:creationId xmlns:a16="http://schemas.microsoft.com/office/drawing/2014/main" id="{73ACD329-1A67-F1C9-A3C3-DF2C76567C5C}"/>
              </a:ext>
            </a:extLst>
          </p:cNvPr>
          <p:cNvPicPr>
            <a:picLocks noChangeAspect="1"/>
          </p:cNvPicPr>
          <p:nvPr/>
        </p:nvPicPr>
        <p:blipFill>
          <a:blip r:embed="rId3"/>
          <a:stretch>
            <a:fillRect/>
          </a:stretch>
        </p:blipFill>
        <p:spPr>
          <a:xfrm>
            <a:off x="0" y="723026"/>
            <a:ext cx="12192000" cy="5411948"/>
          </a:xfrm>
          <a:prstGeom prst="rect">
            <a:avLst/>
          </a:prstGeom>
        </p:spPr>
      </p:pic>
    </p:spTree>
    <p:extLst>
      <p:ext uri="{BB962C8B-B14F-4D97-AF65-F5344CB8AC3E}">
        <p14:creationId xmlns:p14="http://schemas.microsoft.com/office/powerpoint/2010/main" val="3642675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03"/>
        <p:cNvGrpSpPr/>
        <p:nvPr/>
      </p:nvGrpSpPr>
      <p:grpSpPr>
        <a:xfrm>
          <a:off x="0" y="0"/>
          <a:ext cx="0" cy="0"/>
          <a:chOff x="0" y="0"/>
          <a:chExt cx="0" cy="0"/>
        </a:xfrm>
      </p:grpSpPr>
      <p:pic>
        <p:nvPicPr>
          <p:cNvPr id="2" name="Picture 1">
            <a:extLst>
              <a:ext uri="{FF2B5EF4-FFF2-40B4-BE49-F238E27FC236}">
                <a16:creationId xmlns:a16="http://schemas.microsoft.com/office/drawing/2014/main" id="{C2010298-2BBA-240C-9C36-749E0855F7A6}"/>
              </a:ext>
            </a:extLst>
          </p:cNvPr>
          <p:cNvPicPr>
            <a:picLocks noChangeAspect="1"/>
          </p:cNvPicPr>
          <p:nvPr/>
        </p:nvPicPr>
        <p:blipFill>
          <a:blip r:embed="rId3"/>
          <a:stretch>
            <a:fillRect/>
          </a:stretch>
        </p:blipFill>
        <p:spPr>
          <a:xfrm>
            <a:off x="0" y="34723"/>
            <a:ext cx="12192000" cy="6788554"/>
          </a:xfrm>
          <a:prstGeom prst="rect">
            <a:avLst/>
          </a:prstGeom>
        </p:spPr>
      </p:pic>
    </p:spTree>
    <p:extLst>
      <p:ext uri="{BB962C8B-B14F-4D97-AF65-F5344CB8AC3E}">
        <p14:creationId xmlns:p14="http://schemas.microsoft.com/office/powerpoint/2010/main" val="1212598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03"/>
        <p:cNvGrpSpPr/>
        <p:nvPr/>
      </p:nvGrpSpPr>
      <p:grpSpPr>
        <a:xfrm>
          <a:off x="0" y="0"/>
          <a:ext cx="0" cy="0"/>
          <a:chOff x="0" y="0"/>
          <a:chExt cx="0" cy="0"/>
        </a:xfrm>
      </p:grpSpPr>
      <p:pic>
        <p:nvPicPr>
          <p:cNvPr id="3" name="Picture 2">
            <a:extLst>
              <a:ext uri="{FF2B5EF4-FFF2-40B4-BE49-F238E27FC236}">
                <a16:creationId xmlns:a16="http://schemas.microsoft.com/office/drawing/2014/main" id="{6BA6C8B2-C79B-277C-0E07-DF833AF34BA5}"/>
              </a:ext>
            </a:extLst>
          </p:cNvPr>
          <p:cNvPicPr>
            <a:picLocks noChangeAspect="1"/>
          </p:cNvPicPr>
          <p:nvPr/>
        </p:nvPicPr>
        <p:blipFill>
          <a:blip r:embed="rId3"/>
          <a:stretch>
            <a:fillRect/>
          </a:stretch>
        </p:blipFill>
        <p:spPr>
          <a:xfrm>
            <a:off x="0" y="101505"/>
            <a:ext cx="12192000" cy="6654989"/>
          </a:xfrm>
          <a:prstGeom prst="rect">
            <a:avLst/>
          </a:prstGeom>
        </p:spPr>
      </p:pic>
    </p:spTree>
    <p:extLst>
      <p:ext uri="{BB962C8B-B14F-4D97-AF65-F5344CB8AC3E}">
        <p14:creationId xmlns:p14="http://schemas.microsoft.com/office/powerpoint/2010/main" val="68038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03"/>
        <p:cNvGrpSpPr/>
        <p:nvPr/>
      </p:nvGrpSpPr>
      <p:grpSpPr>
        <a:xfrm>
          <a:off x="0" y="0"/>
          <a:ext cx="0" cy="0"/>
          <a:chOff x="0" y="0"/>
          <a:chExt cx="0" cy="0"/>
        </a:xfrm>
      </p:grpSpPr>
      <p:pic>
        <p:nvPicPr>
          <p:cNvPr id="4" name="Picture 3">
            <a:extLst>
              <a:ext uri="{FF2B5EF4-FFF2-40B4-BE49-F238E27FC236}">
                <a16:creationId xmlns:a16="http://schemas.microsoft.com/office/drawing/2014/main" id="{EB651EB9-828D-F926-8358-88D5CF811BC0}"/>
              </a:ext>
            </a:extLst>
          </p:cNvPr>
          <p:cNvPicPr>
            <a:picLocks noChangeAspect="1"/>
          </p:cNvPicPr>
          <p:nvPr/>
        </p:nvPicPr>
        <p:blipFill>
          <a:blip r:embed="rId3"/>
          <a:stretch>
            <a:fillRect/>
          </a:stretch>
        </p:blipFill>
        <p:spPr>
          <a:xfrm>
            <a:off x="0" y="21492"/>
            <a:ext cx="12192000" cy="6815015"/>
          </a:xfrm>
          <a:prstGeom prst="rect">
            <a:avLst/>
          </a:prstGeom>
        </p:spPr>
      </p:pic>
    </p:spTree>
    <p:extLst>
      <p:ext uri="{BB962C8B-B14F-4D97-AF65-F5344CB8AC3E}">
        <p14:creationId xmlns:p14="http://schemas.microsoft.com/office/powerpoint/2010/main" val="1528178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03"/>
        <p:cNvGrpSpPr/>
        <p:nvPr/>
      </p:nvGrpSpPr>
      <p:grpSpPr>
        <a:xfrm>
          <a:off x="0" y="0"/>
          <a:ext cx="0" cy="0"/>
          <a:chOff x="0" y="0"/>
          <a:chExt cx="0" cy="0"/>
        </a:xfrm>
      </p:grpSpPr>
      <p:pic>
        <p:nvPicPr>
          <p:cNvPr id="2" name="Picture 1">
            <a:extLst>
              <a:ext uri="{FF2B5EF4-FFF2-40B4-BE49-F238E27FC236}">
                <a16:creationId xmlns:a16="http://schemas.microsoft.com/office/drawing/2014/main" id="{C4B2F74E-2A45-FA29-EB04-CB767BDBC96D}"/>
              </a:ext>
            </a:extLst>
          </p:cNvPr>
          <p:cNvPicPr>
            <a:picLocks noChangeAspect="1"/>
          </p:cNvPicPr>
          <p:nvPr/>
        </p:nvPicPr>
        <p:blipFill>
          <a:blip r:embed="rId3"/>
          <a:stretch>
            <a:fillRect/>
          </a:stretch>
        </p:blipFill>
        <p:spPr>
          <a:xfrm>
            <a:off x="0" y="47533"/>
            <a:ext cx="12192000" cy="6762933"/>
          </a:xfrm>
          <a:prstGeom prst="rect">
            <a:avLst/>
          </a:prstGeom>
        </p:spPr>
      </p:pic>
    </p:spTree>
    <p:extLst>
      <p:ext uri="{BB962C8B-B14F-4D97-AF65-F5344CB8AC3E}">
        <p14:creationId xmlns:p14="http://schemas.microsoft.com/office/powerpoint/2010/main" val="3398852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42"/>
        <p:cNvGrpSpPr/>
        <p:nvPr/>
      </p:nvGrpSpPr>
      <p:grpSpPr>
        <a:xfrm>
          <a:off x="0" y="0"/>
          <a:ext cx="0" cy="0"/>
          <a:chOff x="0" y="0"/>
          <a:chExt cx="0" cy="0"/>
        </a:xfrm>
      </p:grpSpPr>
      <p:sp>
        <p:nvSpPr>
          <p:cNvPr id="144" name="Google Shape;144;p17"/>
          <p:cNvSpPr txBox="1"/>
          <p:nvPr/>
        </p:nvSpPr>
        <p:spPr>
          <a:xfrm>
            <a:off x="4712841" y="2458353"/>
            <a:ext cx="2766315"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a:solidFill>
                  <a:srgbClr val="0F4C43"/>
                </a:solidFill>
                <a:latin typeface="Playfair Display"/>
                <a:ea typeface="Playfair Display"/>
                <a:cs typeface="Playfair Display"/>
                <a:sym typeface="Playfair Display"/>
              </a:rPr>
              <a:t>PHẦN II</a:t>
            </a:r>
            <a:endParaRPr sz="4800" dirty="0"/>
          </a:p>
        </p:txBody>
      </p:sp>
      <p:sp>
        <p:nvSpPr>
          <p:cNvPr id="145" name="Google Shape;145;p17"/>
          <p:cNvSpPr txBox="1"/>
          <p:nvPr/>
        </p:nvSpPr>
        <p:spPr>
          <a:xfrm>
            <a:off x="3948110" y="3197017"/>
            <a:ext cx="4295775" cy="98488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000" b="0" i="0" u="none" strike="noStrike" cap="none" dirty="0">
                <a:solidFill>
                  <a:srgbClr val="C97A53"/>
                </a:solidFill>
                <a:latin typeface="Plus Jakarta Sans Medium"/>
                <a:ea typeface="Plus Jakarta Sans Medium"/>
                <a:cs typeface="Plus Jakarta Sans Medium"/>
                <a:sym typeface="Plus Jakarta Sans Medium"/>
              </a:rPr>
              <a:t>CHÂN DUNG TRÀ COZY: SỰ TRỖI DẬY VÀ RÀO CẢN BỨT PHÁ</a:t>
            </a:r>
            <a:endParaRPr sz="2400" dirty="0"/>
          </a:p>
        </p:txBody>
      </p:sp>
      <p:sp>
        <p:nvSpPr>
          <p:cNvPr id="146" name="Google Shape;146;p17"/>
          <p:cNvSpPr/>
          <p:nvPr/>
        </p:nvSpPr>
        <p:spPr>
          <a:xfrm>
            <a:off x="5714998" y="4361546"/>
            <a:ext cx="762000" cy="38100"/>
          </a:xfrm>
          <a:prstGeom prst="rect">
            <a:avLst/>
          </a:prstGeom>
          <a:solidFill>
            <a:srgbClr val="C97A5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51"/>
        <p:cNvGrpSpPr/>
        <p:nvPr/>
      </p:nvGrpSpPr>
      <p:grpSpPr>
        <a:xfrm>
          <a:off x="0" y="0"/>
          <a:ext cx="0" cy="0"/>
          <a:chOff x="0" y="0"/>
          <a:chExt cx="0" cy="0"/>
        </a:xfrm>
      </p:grpSpPr>
      <p:pic>
        <p:nvPicPr>
          <p:cNvPr id="153" name="Google Shape;153;p18" descr="image.png"/>
          <p:cNvPicPr preferRelativeResize="0"/>
          <p:nvPr/>
        </p:nvPicPr>
        <p:blipFill rotWithShape="1">
          <a:blip r:embed="rId3">
            <a:alphaModFix/>
          </a:blip>
          <a:srcRect/>
          <a:stretch/>
        </p:blipFill>
        <p:spPr>
          <a:xfrm>
            <a:off x="581025" y="1213395"/>
            <a:ext cx="11029950" cy="5158829"/>
          </a:xfrm>
          <a:prstGeom prst="rect">
            <a:avLst/>
          </a:prstGeom>
          <a:noFill/>
          <a:ln>
            <a:noFill/>
          </a:ln>
        </p:spPr>
      </p:pic>
      <p:sp>
        <p:nvSpPr>
          <p:cNvPr id="154" name="Google Shape;154;p18"/>
          <p:cNvSpPr txBox="1"/>
          <p:nvPr/>
        </p:nvSpPr>
        <p:spPr>
          <a:xfrm>
            <a:off x="581025" y="555166"/>
            <a:ext cx="7554307" cy="664797"/>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3600" b="1" i="0" u="none" strike="noStrike" cap="none" dirty="0" err="1">
                <a:solidFill>
                  <a:srgbClr val="0F4C43"/>
                </a:solidFill>
                <a:latin typeface="Playfair Display"/>
                <a:ea typeface="Playfair Display"/>
                <a:cs typeface="Playfair Display"/>
                <a:sym typeface="Playfair Display"/>
              </a:rPr>
              <a:t>Trà</a:t>
            </a:r>
            <a:r>
              <a:rPr lang="en-US" sz="3600" b="1" i="0" u="none" strike="noStrike" cap="none" dirty="0">
                <a:solidFill>
                  <a:srgbClr val="0F4C43"/>
                </a:solidFill>
                <a:latin typeface="Playfair Display"/>
                <a:ea typeface="Playfair Display"/>
                <a:cs typeface="Playfair Display"/>
                <a:sym typeface="Playfair Display"/>
              </a:rPr>
              <a:t> Cozy: </a:t>
            </a:r>
            <a:r>
              <a:rPr lang="en-US" sz="3600" b="1" i="0" u="none" strike="noStrike" cap="none" dirty="0" err="1">
                <a:solidFill>
                  <a:srgbClr val="0F4C43"/>
                </a:solidFill>
                <a:latin typeface="Playfair Display"/>
                <a:ea typeface="Playfair Display"/>
                <a:cs typeface="Playfair Display"/>
                <a:sym typeface="Playfair Display"/>
              </a:rPr>
              <a:t>Ngôi</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sao</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tăng</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trưởng</a:t>
            </a:r>
            <a:r>
              <a:rPr lang="en-US" sz="3600" b="1" i="0" u="none" strike="noStrike" cap="none" dirty="0">
                <a:solidFill>
                  <a:srgbClr val="0F4C43"/>
                </a:solidFill>
                <a:latin typeface="Playfair Display"/>
                <a:ea typeface="Playfair Display"/>
                <a:cs typeface="Playfair Display"/>
                <a:sym typeface="Playfair Display"/>
              </a:rPr>
              <a:t> YoY</a:t>
            </a:r>
            <a:endParaRPr sz="3600" dirty="0"/>
          </a:p>
        </p:txBody>
      </p:sp>
      <p:sp>
        <p:nvSpPr>
          <p:cNvPr id="155" name="Google Shape;155;p18"/>
          <p:cNvSpPr txBox="1"/>
          <p:nvPr/>
        </p:nvSpPr>
        <p:spPr>
          <a:xfrm>
            <a:off x="581025" y="5296792"/>
            <a:ext cx="11029950" cy="192285"/>
          </a:xfrm>
          <a:prstGeom prst="rect">
            <a:avLst/>
          </a:prstGeom>
          <a:noFill/>
          <a:ln>
            <a:noFill/>
          </a:ln>
        </p:spPr>
        <p:txBody>
          <a:bodyPr spcFirstLastPara="1" wrap="square" lIns="0" tIns="0" rIns="0" bIns="0" anchor="t" anchorCtr="0">
            <a:spAutoFit/>
          </a:bodyPr>
          <a:lstStyle/>
          <a:p>
            <a:pPr marL="0" marR="0" lvl="0" indent="0" algn="ctr" rtl="0">
              <a:lnSpc>
                <a:spcPct val="159888"/>
              </a:lnSpc>
              <a:spcBef>
                <a:spcPts val="0"/>
              </a:spcBef>
              <a:spcAft>
                <a:spcPts val="0"/>
              </a:spcAft>
              <a:buNone/>
            </a:pPr>
            <a:r>
              <a:rPr lang="en-US" sz="900" b="0" i="1" u="none" strike="noStrike" cap="none" dirty="0" err="1">
                <a:solidFill>
                  <a:srgbClr val="6C7D8A"/>
                </a:solidFill>
                <a:latin typeface="Plus Jakarta Sans"/>
                <a:ea typeface="Plus Jakarta Sans"/>
                <a:cs typeface="Plus Jakarta Sans"/>
                <a:sym typeface="Plus Jakarta Sans"/>
              </a:rPr>
              <a:t>Đường</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sẫm</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màu</a:t>
            </a:r>
            <a:r>
              <a:rPr lang="en-US" sz="900" b="0" i="1" u="none" strike="noStrike" cap="none" dirty="0">
                <a:solidFill>
                  <a:srgbClr val="6C7D8A"/>
                </a:solidFill>
                <a:latin typeface="Plus Jakarta Sans"/>
                <a:ea typeface="Plus Jakarta Sans"/>
                <a:cs typeface="Plus Jakarta Sans"/>
                <a:sym typeface="Plus Jakarta Sans"/>
              </a:rPr>
              <a:t> (2025) so </a:t>
            </a:r>
            <a:r>
              <a:rPr lang="en-US" sz="900" b="0" i="1" u="none" strike="noStrike" cap="none" dirty="0" err="1">
                <a:solidFill>
                  <a:srgbClr val="6C7D8A"/>
                </a:solidFill>
                <a:latin typeface="Plus Jakarta Sans"/>
                <a:ea typeface="Plus Jakarta Sans"/>
                <a:cs typeface="Plus Jakarta Sans"/>
                <a:sym typeface="Plus Jakarta Sans"/>
              </a:rPr>
              <a:t>với</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đường</a:t>
            </a:r>
            <a:r>
              <a:rPr lang="en-US" sz="900" b="0" i="1" u="none" strike="noStrike" cap="none" dirty="0">
                <a:solidFill>
                  <a:srgbClr val="6C7D8A"/>
                </a:solidFill>
                <a:latin typeface="Plus Jakarta Sans"/>
                <a:ea typeface="Plus Jakarta Sans"/>
                <a:cs typeface="Plus Jakarta Sans"/>
                <a:sym typeface="Plus Jakarta Sans"/>
              </a:rPr>
              <a:t> cam (2024). </a:t>
            </a:r>
            <a:r>
              <a:rPr lang="en-US" sz="900" b="0" i="1" u="none" strike="noStrike" cap="none" dirty="0" err="1">
                <a:solidFill>
                  <a:srgbClr val="6C7D8A"/>
                </a:solidFill>
                <a:latin typeface="Plus Jakarta Sans"/>
                <a:ea typeface="Plus Jakarta Sans"/>
                <a:cs typeface="Plus Jakarta Sans"/>
                <a:sym typeface="Plus Jakarta Sans"/>
              </a:rPr>
              <a:t>Trà</a:t>
            </a:r>
            <a:r>
              <a:rPr lang="en-US" sz="900" b="0" i="1" u="none" strike="noStrike" cap="none" dirty="0">
                <a:solidFill>
                  <a:srgbClr val="6C7D8A"/>
                </a:solidFill>
                <a:latin typeface="Plus Jakarta Sans"/>
                <a:ea typeface="Plus Jakarta Sans"/>
                <a:cs typeface="Plus Jakarta Sans"/>
                <a:sym typeface="Plus Jakarta Sans"/>
              </a:rPr>
              <a:t> Cozy </a:t>
            </a:r>
            <a:r>
              <a:rPr lang="en-US" sz="900" b="0" i="1" u="none" strike="noStrike" cap="none" dirty="0" err="1">
                <a:solidFill>
                  <a:srgbClr val="6C7D8A"/>
                </a:solidFill>
                <a:latin typeface="Plus Jakarta Sans"/>
                <a:ea typeface="Plus Jakarta Sans"/>
                <a:cs typeface="Plus Jakarta Sans"/>
                <a:sym typeface="Plus Jakarta Sans"/>
              </a:rPr>
              <a:t>dẫn</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đầu</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tốc</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độ</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tăng</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trưởng</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chỉ</a:t>
            </a:r>
            <a:r>
              <a:rPr lang="en-US" sz="900" b="0" i="1" u="none" strike="noStrike" cap="none" dirty="0">
                <a:solidFill>
                  <a:srgbClr val="6C7D8A"/>
                </a:solidFill>
                <a:latin typeface="Plus Jakarta Sans"/>
                <a:ea typeface="Plus Jakarta Sans"/>
                <a:cs typeface="Plus Jakarta Sans"/>
                <a:sym typeface="Plus Jakarta Sans"/>
              </a:rPr>
              <a:t> </a:t>
            </a:r>
            <a:r>
              <a:rPr lang="en-US" sz="900" b="0" i="1" u="none" strike="noStrike" cap="none" dirty="0" err="1">
                <a:solidFill>
                  <a:srgbClr val="6C7D8A"/>
                </a:solidFill>
                <a:latin typeface="Plus Jakarta Sans"/>
                <a:ea typeface="Plus Jakarta Sans"/>
                <a:cs typeface="Plus Jakarta Sans"/>
                <a:sym typeface="Plus Jakarta Sans"/>
              </a:rPr>
              <a:t>số</a:t>
            </a:r>
            <a:r>
              <a:rPr lang="en-US" sz="900" b="0" i="1" u="none" strike="noStrike" cap="none" dirty="0">
                <a:solidFill>
                  <a:srgbClr val="6C7D8A"/>
                </a:solidFill>
                <a:latin typeface="Plus Jakarta Sans"/>
                <a:ea typeface="Plus Jakarta Sans"/>
                <a:cs typeface="Plus Jakarta Sans"/>
                <a:sym typeface="Plus Jakarta Sans"/>
              </a:rPr>
              <a:t> P3M (+5.2pp </a:t>
            </a:r>
            <a:r>
              <a:rPr lang="en-US" sz="900" b="0" i="1" u="none" strike="noStrike" cap="none" dirty="0" err="1">
                <a:solidFill>
                  <a:srgbClr val="6C7D8A"/>
                </a:solidFill>
                <a:latin typeface="Plus Jakarta Sans"/>
                <a:ea typeface="Plus Jakarta Sans"/>
                <a:cs typeface="Plus Jakarta Sans"/>
                <a:sym typeface="Plus Jakarta Sans"/>
              </a:rPr>
              <a:t>từ</a:t>
            </a:r>
            <a:r>
              <a:rPr lang="en-US" sz="900" b="0" i="1" u="none" strike="noStrike" cap="none" dirty="0">
                <a:solidFill>
                  <a:srgbClr val="6C7D8A"/>
                </a:solidFill>
                <a:latin typeface="Plus Jakarta Sans"/>
                <a:ea typeface="Plus Jakarta Sans"/>
                <a:cs typeface="Plus Jakarta Sans"/>
                <a:sym typeface="Plus Jakarta Sans"/>
              </a:rPr>
              <a:t> 30.6% </a:t>
            </a:r>
            <a:r>
              <a:rPr lang="en-US" sz="900" b="0" i="1" u="none" strike="noStrike" cap="none" dirty="0" err="1">
                <a:solidFill>
                  <a:srgbClr val="6C7D8A"/>
                </a:solidFill>
                <a:latin typeface="Plus Jakarta Sans"/>
                <a:ea typeface="Plus Jakarta Sans"/>
                <a:cs typeface="Plus Jakarta Sans"/>
                <a:sym typeface="Plus Jakarta Sans"/>
              </a:rPr>
              <a:t>lên</a:t>
            </a:r>
            <a:r>
              <a:rPr lang="en-US" sz="900" b="0" i="1" u="none" strike="noStrike" cap="none" dirty="0">
                <a:solidFill>
                  <a:srgbClr val="6C7D8A"/>
                </a:solidFill>
                <a:latin typeface="Plus Jakarta Sans"/>
                <a:ea typeface="Plus Jakarta Sans"/>
                <a:cs typeface="Plus Jakarta Sans"/>
                <a:sym typeface="Plus Jakarta Sans"/>
              </a:rPr>
              <a:t> 35.8%) </a:t>
            </a:r>
            <a:r>
              <a:rPr lang="en-US" sz="900" b="0" i="1" u="none" strike="noStrike" cap="none" dirty="0" err="1">
                <a:solidFill>
                  <a:srgbClr val="6C7D8A"/>
                </a:solidFill>
                <a:latin typeface="Plus Jakarta Sans"/>
                <a:ea typeface="Plus Jakarta Sans"/>
                <a:cs typeface="Plus Jakarta Sans"/>
                <a:sym typeface="Plus Jakarta Sans"/>
              </a:rPr>
              <a:t>và</a:t>
            </a:r>
            <a:r>
              <a:rPr lang="en-US" sz="900" b="0" i="1" u="none" strike="noStrike" cap="none" dirty="0">
                <a:solidFill>
                  <a:srgbClr val="6C7D8A"/>
                </a:solidFill>
                <a:latin typeface="Plus Jakarta Sans"/>
                <a:ea typeface="Plus Jakarta Sans"/>
                <a:cs typeface="Plus Jakarta Sans"/>
                <a:sym typeface="Plus Jakarta Sans"/>
              </a:rPr>
              <a:t> P4W (+4.0pp </a:t>
            </a:r>
            <a:r>
              <a:rPr lang="en-US" sz="900" b="0" i="1" u="none" strike="noStrike" cap="none" dirty="0" err="1">
                <a:solidFill>
                  <a:srgbClr val="6C7D8A"/>
                </a:solidFill>
                <a:latin typeface="Plus Jakarta Sans"/>
                <a:ea typeface="Plus Jakarta Sans"/>
                <a:cs typeface="Plus Jakarta Sans"/>
                <a:sym typeface="Plus Jakarta Sans"/>
              </a:rPr>
              <a:t>từ</a:t>
            </a:r>
            <a:r>
              <a:rPr lang="en-US" sz="900" b="0" i="1" u="none" strike="noStrike" cap="none" dirty="0">
                <a:solidFill>
                  <a:srgbClr val="6C7D8A"/>
                </a:solidFill>
                <a:latin typeface="Plus Jakarta Sans"/>
                <a:ea typeface="Plus Jakarta Sans"/>
                <a:cs typeface="Plus Jakarta Sans"/>
                <a:sym typeface="Plus Jakarta Sans"/>
              </a:rPr>
              <a:t> 23.8% </a:t>
            </a:r>
            <a:r>
              <a:rPr lang="en-US" sz="900" b="0" i="1" u="none" strike="noStrike" cap="none" dirty="0" err="1">
                <a:solidFill>
                  <a:srgbClr val="6C7D8A"/>
                </a:solidFill>
                <a:latin typeface="Plus Jakarta Sans"/>
                <a:ea typeface="Plus Jakarta Sans"/>
                <a:cs typeface="Plus Jakarta Sans"/>
                <a:sym typeface="Plus Jakarta Sans"/>
              </a:rPr>
              <a:t>lên</a:t>
            </a:r>
            <a:r>
              <a:rPr lang="en-US" sz="900" b="0" i="1" u="none" strike="noStrike" cap="none" dirty="0">
                <a:solidFill>
                  <a:srgbClr val="6C7D8A"/>
                </a:solidFill>
                <a:latin typeface="Plus Jakarta Sans"/>
                <a:ea typeface="Plus Jakarta Sans"/>
                <a:cs typeface="Plus Jakarta Sans"/>
                <a:sym typeface="Plus Jakarta Sans"/>
              </a:rPr>
              <a:t> 27.8%).</a:t>
            </a:r>
            <a:endParaRPr dirty="0"/>
          </a:p>
        </p:txBody>
      </p:sp>
      <p:sp>
        <p:nvSpPr>
          <p:cNvPr id="156" name="Google Shape;156;p18"/>
          <p:cNvSpPr/>
          <p:nvPr/>
        </p:nvSpPr>
        <p:spPr>
          <a:xfrm>
            <a:off x="581025" y="5182492"/>
            <a:ext cx="11029950" cy="9525"/>
          </a:xfrm>
          <a:prstGeom prst="rect">
            <a:avLst/>
          </a:prstGeom>
          <a:solidFill>
            <a:srgbClr val="0F4C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8"/>
          <p:cNvSpPr txBox="1"/>
          <p:nvPr/>
        </p:nvSpPr>
        <p:spPr>
          <a:xfrm>
            <a:off x="581025" y="279792"/>
            <a:ext cx="110299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C97A53"/>
                </a:solidFill>
                <a:latin typeface="Plus Jakarta Sans SemiBold"/>
                <a:ea typeface="Plus Jakarta Sans SemiBold"/>
                <a:cs typeface="Plus Jakarta Sans SemiBold"/>
                <a:sym typeface="Plus Jakarta Sans SemiBold"/>
              </a:rPr>
              <a:t>Trend </a:t>
            </a: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tiêu</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dùng</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2024 - 2025</a:t>
            </a:r>
            <a:endParaRPr sz="1800" dirty="0"/>
          </a:p>
        </p:txBody>
      </p:sp>
      <p:sp>
        <p:nvSpPr>
          <p:cNvPr id="158" name="Google Shape;158;p18"/>
          <p:cNvSpPr/>
          <p:nvPr/>
        </p:nvSpPr>
        <p:spPr>
          <a:xfrm>
            <a:off x="581025" y="1239591"/>
            <a:ext cx="11029950" cy="9525"/>
          </a:xfrm>
          <a:prstGeom prst="rect">
            <a:avLst/>
          </a:prstGeom>
          <a:solidFill>
            <a:srgbClr val="0F4C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63"/>
        <p:cNvGrpSpPr/>
        <p:nvPr/>
      </p:nvGrpSpPr>
      <p:grpSpPr>
        <a:xfrm>
          <a:off x="0" y="0"/>
          <a:ext cx="0" cy="0"/>
          <a:chOff x="0" y="0"/>
          <a:chExt cx="0" cy="0"/>
        </a:xfrm>
      </p:grpSpPr>
      <p:pic>
        <p:nvPicPr>
          <p:cNvPr id="165" name="Google Shape;165;p19" descr="image.png"/>
          <p:cNvPicPr preferRelativeResize="0"/>
          <p:nvPr/>
        </p:nvPicPr>
        <p:blipFill rotWithShape="1">
          <a:blip r:embed="rId3">
            <a:alphaModFix/>
          </a:blip>
          <a:srcRect/>
          <a:stretch/>
        </p:blipFill>
        <p:spPr>
          <a:xfrm>
            <a:off x="581025" y="2520404"/>
            <a:ext cx="5372100" cy="2544663"/>
          </a:xfrm>
          <a:prstGeom prst="rect">
            <a:avLst/>
          </a:prstGeom>
          <a:noFill/>
          <a:ln>
            <a:noFill/>
          </a:ln>
        </p:spPr>
      </p:pic>
      <p:pic>
        <p:nvPicPr>
          <p:cNvPr id="166" name="Google Shape;166;p19" descr="image.png"/>
          <p:cNvPicPr preferRelativeResize="0"/>
          <p:nvPr/>
        </p:nvPicPr>
        <p:blipFill rotWithShape="1">
          <a:blip r:embed="rId3">
            <a:alphaModFix/>
          </a:blip>
          <a:srcRect/>
          <a:stretch/>
        </p:blipFill>
        <p:spPr>
          <a:xfrm>
            <a:off x="6238875" y="2520404"/>
            <a:ext cx="5372100" cy="2544663"/>
          </a:xfrm>
          <a:prstGeom prst="rect">
            <a:avLst/>
          </a:prstGeom>
          <a:noFill/>
          <a:ln>
            <a:noFill/>
          </a:ln>
        </p:spPr>
      </p:pic>
      <p:sp>
        <p:nvSpPr>
          <p:cNvPr id="167" name="Google Shape;167;p19"/>
          <p:cNvSpPr txBox="1"/>
          <p:nvPr/>
        </p:nvSpPr>
        <p:spPr>
          <a:xfrm>
            <a:off x="581025" y="678523"/>
            <a:ext cx="7054686" cy="701731"/>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3800" b="1" i="0" u="none" strike="noStrike" cap="none" dirty="0" err="1">
                <a:solidFill>
                  <a:srgbClr val="0F4C43"/>
                </a:solidFill>
                <a:latin typeface="Playfair Display"/>
                <a:ea typeface="Playfair Display"/>
                <a:cs typeface="Playfair Display"/>
                <a:sym typeface="Playfair Display"/>
              </a:rPr>
              <a:t>Thế</a:t>
            </a:r>
            <a:r>
              <a:rPr lang="en-US" sz="3800" b="1" i="0" u="none" strike="noStrike" cap="none" dirty="0">
                <a:solidFill>
                  <a:srgbClr val="0F4C43"/>
                </a:solidFill>
                <a:latin typeface="Playfair Display"/>
                <a:ea typeface="Playfair Display"/>
                <a:cs typeface="Playfair Display"/>
                <a:sym typeface="Playfair Display"/>
              </a:rPr>
              <a:t> </a:t>
            </a:r>
            <a:r>
              <a:rPr lang="en-US" sz="3800" b="1" i="0" u="none" strike="noStrike" cap="none" dirty="0" err="1">
                <a:solidFill>
                  <a:srgbClr val="0F4C43"/>
                </a:solidFill>
                <a:latin typeface="Playfair Display"/>
                <a:ea typeface="Playfair Display"/>
                <a:cs typeface="Playfair Display"/>
                <a:sym typeface="Playfair Display"/>
              </a:rPr>
              <a:t>mạnh</a:t>
            </a:r>
            <a:r>
              <a:rPr lang="en-US" sz="3800" b="1" i="0" u="none" strike="noStrike" cap="none" dirty="0">
                <a:solidFill>
                  <a:srgbClr val="0F4C43"/>
                </a:solidFill>
                <a:latin typeface="Playfair Display"/>
                <a:ea typeface="Playfair Display"/>
                <a:cs typeface="Playfair Display"/>
                <a:sym typeface="Playfair Display"/>
              </a:rPr>
              <a:t> </a:t>
            </a:r>
            <a:r>
              <a:rPr lang="en-US" sz="3800" b="1" i="0" u="none" strike="noStrike" cap="none" dirty="0" err="1">
                <a:solidFill>
                  <a:srgbClr val="0F4C43"/>
                </a:solidFill>
                <a:latin typeface="Playfair Display"/>
                <a:ea typeface="Playfair Display"/>
                <a:cs typeface="Playfair Display"/>
                <a:sym typeface="Playfair Display"/>
              </a:rPr>
              <a:t>định</a:t>
            </a:r>
            <a:r>
              <a:rPr lang="en-US" sz="3800" b="1" i="0" u="none" strike="noStrike" cap="none" dirty="0">
                <a:solidFill>
                  <a:srgbClr val="0F4C43"/>
                </a:solidFill>
                <a:latin typeface="Playfair Display"/>
                <a:ea typeface="Playfair Display"/>
                <a:cs typeface="Playfair Display"/>
                <a:sym typeface="Playfair Display"/>
              </a:rPr>
              <a:t> </a:t>
            </a:r>
            <a:r>
              <a:rPr lang="en-US" sz="3800" b="1" i="0" u="none" strike="noStrike" cap="none" dirty="0" err="1">
                <a:solidFill>
                  <a:srgbClr val="0F4C43"/>
                </a:solidFill>
                <a:latin typeface="Playfair Display"/>
                <a:ea typeface="Playfair Display"/>
                <a:cs typeface="Playfair Display"/>
                <a:sym typeface="Playfair Display"/>
              </a:rPr>
              <a:t>vị</a:t>
            </a:r>
            <a:r>
              <a:rPr lang="en-US" sz="3800" b="1" i="0" u="none" strike="noStrike" cap="none" dirty="0">
                <a:solidFill>
                  <a:srgbClr val="0F4C43"/>
                </a:solidFill>
                <a:latin typeface="Playfair Display"/>
                <a:ea typeface="Playfair Display"/>
                <a:cs typeface="Playfair Display"/>
                <a:sym typeface="Playfair Display"/>
              </a:rPr>
              <a:t> </a:t>
            </a:r>
            <a:r>
              <a:rPr lang="en-US" sz="3800" b="1" i="0" u="none" strike="noStrike" cap="none" dirty="0" err="1">
                <a:solidFill>
                  <a:srgbClr val="0F4C43"/>
                </a:solidFill>
                <a:latin typeface="Playfair Display"/>
                <a:ea typeface="Playfair Display"/>
                <a:cs typeface="Playfair Display"/>
                <a:sym typeface="Playfair Display"/>
              </a:rPr>
              <a:t>của</a:t>
            </a:r>
            <a:r>
              <a:rPr lang="en-US" sz="3800" b="1" i="0" u="none" strike="noStrike" cap="none" dirty="0">
                <a:solidFill>
                  <a:srgbClr val="0F4C43"/>
                </a:solidFill>
                <a:latin typeface="Playfair Display"/>
                <a:ea typeface="Playfair Display"/>
                <a:cs typeface="Playfair Display"/>
                <a:sym typeface="Playfair Display"/>
              </a:rPr>
              <a:t> </a:t>
            </a:r>
            <a:r>
              <a:rPr lang="en-US" sz="3800" b="1" i="0" u="none" strike="noStrike" cap="none" dirty="0" err="1">
                <a:solidFill>
                  <a:srgbClr val="0F4C43"/>
                </a:solidFill>
                <a:latin typeface="Playfair Display"/>
                <a:ea typeface="Playfair Display"/>
                <a:cs typeface="Playfair Display"/>
                <a:sym typeface="Playfair Display"/>
              </a:rPr>
              <a:t>Trà</a:t>
            </a:r>
            <a:r>
              <a:rPr lang="en-US" sz="3800" b="1" i="0" u="none" strike="noStrike" cap="none" dirty="0">
                <a:solidFill>
                  <a:srgbClr val="0F4C43"/>
                </a:solidFill>
                <a:latin typeface="Playfair Display"/>
                <a:ea typeface="Playfair Display"/>
                <a:cs typeface="Playfair Display"/>
                <a:sym typeface="Playfair Display"/>
              </a:rPr>
              <a:t> Cozy</a:t>
            </a:r>
            <a:endParaRPr sz="3800" dirty="0"/>
          </a:p>
        </p:txBody>
      </p:sp>
      <p:sp>
        <p:nvSpPr>
          <p:cNvPr id="168" name="Google Shape;168;p19"/>
          <p:cNvSpPr txBox="1"/>
          <p:nvPr/>
        </p:nvSpPr>
        <p:spPr>
          <a:xfrm>
            <a:off x="866775" y="2844254"/>
            <a:ext cx="504063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4C43"/>
                </a:solidFill>
                <a:latin typeface="Playfair Display"/>
                <a:ea typeface="Playfair Display"/>
                <a:cs typeface="Playfair Display"/>
                <a:sym typeface="Playfair Display"/>
              </a:rPr>
              <a:t>1. Ưu thế nguyên liệu tự nhiên</a:t>
            </a:r>
            <a:endParaRPr/>
          </a:p>
        </p:txBody>
      </p:sp>
      <p:sp>
        <p:nvSpPr>
          <p:cNvPr id="169" name="Google Shape;169;p19"/>
          <p:cNvSpPr txBox="1"/>
          <p:nvPr/>
        </p:nvSpPr>
        <p:spPr>
          <a:xfrm>
            <a:off x="866775" y="3196679"/>
            <a:ext cx="4800600" cy="85308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4A5560"/>
                </a:solidFill>
                <a:latin typeface="Plus Jakarta Sans"/>
                <a:ea typeface="Plus Jakarta Sans"/>
                <a:cs typeface="Plus Jakarta Sans"/>
                <a:sym typeface="Plus Jakarta Sans"/>
              </a:rPr>
              <a:t>Cozy ghi dấu ấn cực mạnh trong lòng người tiêu dùng ở thuộc tính </a:t>
            </a:r>
            <a:r>
              <a:rPr lang="en-US" sz="1050" b="0" i="0" u="none" strike="noStrike" cap="none">
                <a:solidFill>
                  <a:srgbClr val="0F4C43"/>
                </a:solidFill>
                <a:latin typeface="Plus Jakarta Sans SemiBold"/>
                <a:ea typeface="Plus Jakarta Sans SemiBold"/>
                <a:cs typeface="Plus Jakarta Sans SemiBold"/>
                <a:sym typeface="Plus Jakarta Sans SemiBold"/>
              </a:rPr>
              <a:t>"Sản xuất từ nguyên liệu tự nhiên" đạt 50.8%</a:t>
            </a:r>
            <a:r>
              <a:rPr lang="en-US" sz="1050" b="0" i="0" u="none" strike="noStrike" cap="none">
                <a:solidFill>
                  <a:srgbClr val="4A5560"/>
                </a:solidFill>
                <a:latin typeface="Plus Jakarta Sans"/>
                <a:ea typeface="Plus Jakarta Sans"/>
                <a:cs typeface="Plus Jakarta Sans"/>
                <a:sym typeface="Plus Jakarta Sans"/>
              </a:rPr>
              <a:t>. Đây là kết quả vượt trội, đứng thứ 2 toàn thị trường (chỉ xếp sau gã khổng lồ OLong Tea Plus - 81.9% và bỏ xa nhiều đối thủ khác).</a:t>
            </a:r>
            <a:endParaRPr/>
          </a:p>
        </p:txBody>
      </p:sp>
      <p:sp>
        <p:nvSpPr>
          <p:cNvPr id="170" name="Google Shape;170;p19"/>
          <p:cNvSpPr txBox="1"/>
          <p:nvPr/>
        </p:nvSpPr>
        <p:spPr>
          <a:xfrm>
            <a:off x="6524625" y="2844254"/>
            <a:ext cx="504063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4C43"/>
                </a:solidFill>
                <a:latin typeface="Playfair Display"/>
                <a:ea typeface="Playfair Display"/>
                <a:cs typeface="Playfair Display"/>
                <a:sym typeface="Playfair Display"/>
              </a:rPr>
              <a:t>2. Định vị có lợi cho sức khỏe</a:t>
            </a:r>
            <a:endParaRPr/>
          </a:p>
        </p:txBody>
      </p:sp>
      <p:sp>
        <p:nvSpPr>
          <p:cNvPr id="171" name="Google Shape;171;p19"/>
          <p:cNvSpPr txBox="1"/>
          <p:nvPr/>
        </p:nvSpPr>
        <p:spPr>
          <a:xfrm>
            <a:off x="6524625" y="3196679"/>
            <a:ext cx="4800600" cy="63981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4A5560"/>
                </a:solidFill>
                <a:latin typeface="Plus Jakarta Sans"/>
                <a:ea typeface="Plus Jakarta Sans"/>
                <a:cs typeface="Plus Jakarta Sans"/>
                <a:sym typeface="Plus Jakarta Sans"/>
              </a:rPr>
              <a:t>Thuộc tính </a:t>
            </a:r>
            <a:r>
              <a:rPr lang="en-US" sz="1050" b="0" i="0" u="none" strike="noStrike" cap="none">
                <a:solidFill>
                  <a:srgbClr val="0F4C43"/>
                </a:solidFill>
                <a:latin typeface="Plus Jakarta Sans SemiBold"/>
                <a:ea typeface="Plus Jakarta Sans SemiBold"/>
                <a:cs typeface="Plus Jakarta Sans SemiBold"/>
                <a:sym typeface="Plus Jakarta Sans SemiBold"/>
              </a:rPr>
              <a:t>"Có lợi cho sức khỏe" đạt 46.7%</a:t>
            </a:r>
            <a:r>
              <a:rPr lang="en-US" sz="1050" b="0" i="0" u="none" strike="noStrike" cap="none">
                <a:solidFill>
                  <a:srgbClr val="4A5560"/>
                </a:solidFill>
                <a:latin typeface="Plus Jakarta Sans"/>
                <a:ea typeface="Plus Jakarta Sans"/>
                <a:cs typeface="Plus Jakarta Sans"/>
                <a:sym typeface="Plus Jakarta Sans"/>
              </a:rPr>
              <a:t> giúp Cozy giữ vững thế cạnh tranh "Healthy". Định vị này vô cùng đắt giá trong bối cảnh người tiêu dùng trẻ đang thắt chặt kiểm soát lượng đường nạp vào cơ thể.</a:t>
            </a:r>
            <a:endParaRPr/>
          </a:p>
        </p:txBody>
      </p:sp>
      <p:sp>
        <p:nvSpPr>
          <p:cNvPr id="172" name="Google Shape;172;p19"/>
          <p:cNvSpPr txBox="1"/>
          <p:nvPr/>
        </p:nvSpPr>
        <p:spPr>
          <a:xfrm>
            <a:off x="1057275" y="4192637"/>
            <a:ext cx="4610100"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A5560"/>
                </a:solidFill>
                <a:latin typeface="Plus Jakarta Sans"/>
                <a:ea typeface="Plus Jakarta Sans"/>
                <a:cs typeface="Plus Jakarta Sans"/>
                <a:sym typeface="Plus Jakarta Sans"/>
              </a:rPr>
              <a:t>Hình ảnh trà sạch, an lành từ nông trường Việt Nam.</a:t>
            </a:r>
            <a:endParaRPr/>
          </a:p>
        </p:txBody>
      </p:sp>
      <p:sp>
        <p:nvSpPr>
          <p:cNvPr id="173" name="Google Shape;173;p19"/>
          <p:cNvSpPr txBox="1"/>
          <p:nvPr/>
        </p:nvSpPr>
        <p:spPr>
          <a:xfrm>
            <a:off x="1057275" y="4485977"/>
            <a:ext cx="4610100"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A5560"/>
                </a:solidFill>
                <a:latin typeface="Plus Jakarta Sans"/>
                <a:ea typeface="Plus Jakarta Sans"/>
                <a:cs typeface="Plus Jakarta Sans"/>
                <a:sym typeface="Plus Jakarta Sans"/>
              </a:rPr>
              <a:t>Được bảo chứng chất lượng truyền thống lâu năm.</a:t>
            </a:r>
            <a:endParaRPr/>
          </a:p>
        </p:txBody>
      </p:sp>
      <p:sp>
        <p:nvSpPr>
          <p:cNvPr id="174" name="Google Shape;174;p19"/>
          <p:cNvSpPr txBox="1"/>
          <p:nvPr/>
        </p:nvSpPr>
        <p:spPr>
          <a:xfrm>
            <a:off x="6715125" y="3979366"/>
            <a:ext cx="4610100"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A5560"/>
                </a:solidFill>
                <a:latin typeface="Plus Jakarta Sans"/>
                <a:ea typeface="Plus Jakarta Sans"/>
                <a:cs typeface="Plus Jakarta Sans"/>
                <a:sym typeface="Plus Jakarta Sans"/>
              </a:rPr>
              <a:t>Chỉ số tin cậy nhãn hiệu đạt mốc ấn tượng 51.0%.</a:t>
            </a:r>
            <a:endParaRPr/>
          </a:p>
        </p:txBody>
      </p:sp>
      <p:sp>
        <p:nvSpPr>
          <p:cNvPr id="175" name="Google Shape;175;p19"/>
          <p:cNvSpPr txBox="1"/>
          <p:nvPr/>
        </p:nvSpPr>
        <p:spPr>
          <a:xfrm>
            <a:off x="6715125" y="4272706"/>
            <a:ext cx="4610100"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A5560"/>
                </a:solidFill>
                <a:latin typeface="Plus Jakarta Sans"/>
                <a:ea typeface="Plus Jakarta Sans"/>
                <a:cs typeface="Plus Jakarta Sans"/>
                <a:sym typeface="Plus Jakarta Sans"/>
              </a:rPr>
              <a:t>Độ nhận biết có gợi ý (Aided Awareness) rất tốt: 91.8%.</a:t>
            </a:r>
            <a:endParaRPr/>
          </a:p>
        </p:txBody>
      </p:sp>
      <p:sp>
        <p:nvSpPr>
          <p:cNvPr id="176" name="Google Shape;176;p19"/>
          <p:cNvSpPr txBox="1"/>
          <p:nvPr/>
        </p:nvSpPr>
        <p:spPr>
          <a:xfrm>
            <a:off x="866775" y="4173587"/>
            <a:ext cx="95250" cy="2762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97A53"/>
                </a:solidFill>
                <a:latin typeface="Plus Jakarta Sans"/>
                <a:ea typeface="Plus Jakarta Sans"/>
                <a:cs typeface="Plus Jakarta Sans"/>
                <a:sym typeface="Plus Jakarta Sans"/>
              </a:rPr>
              <a:t>•</a:t>
            </a:r>
            <a:endParaRPr/>
          </a:p>
        </p:txBody>
      </p:sp>
      <p:sp>
        <p:nvSpPr>
          <p:cNvPr id="177" name="Google Shape;177;p19"/>
          <p:cNvSpPr txBox="1"/>
          <p:nvPr/>
        </p:nvSpPr>
        <p:spPr>
          <a:xfrm>
            <a:off x="866775" y="4466927"/>
            <a:ext cx="95250" cy="2762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97A53"/>
                </a:solidFill>
                <a:latin typeface="Plus Jakarta Sans"/>
                <a:ea typeface="Plus Jakarta Sans"/>
                <a:cs typeface="Plus Jakarta Sans"/>
                <a:sym typeface="Plus Jakarta Sans"/>
              </a:rPr>
              <a:t>•</a:t>
            </a:r>
            <a:endParaRPr/>
          </a:p>
        </p:txBody>
      </p:sp>
      <p:sp>
        <p:nvSpPr>
          <p:cNvPr id="178" name="Google Shape;178;p19"/>
          <p:cNvSpPr txBox="1"/>
          <p:nvPr/>
        </p:nvSpPr>
        <p:spPr>
          <a:xfrm>
            <a:off x="6524625" y="3960316"/>
            <a:ext cx="95250" cy="2762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97A53"/>
                </a:solidFill>
                <a:latin typeface="Plus Jakarta Sans"/>
                <a:ea typeface="Plus Jakarta Sans"/>
                <a:cs typeface="Plus Jakarta Sans"/>
                <a:sym typeface="Plus Jakarta Sans"/>
              </a:rPr>
              <a:t>•</a:t>
            </a:r>
            <a:endParaRPr/>
          </a:p>
        </p:txBody>
      </p:sp>
      <p:sp>
        <p:nvSpPr>
          <p:cNvPr id="179" name="Google Shape;179;p19"/>
          <p:cNvSpPr txBox="1"/>
          <p:nvPr/>
        </p:nvSpPr>
        <p:spPr>
          <a:xfrm>
            <a:off x="6524625" y="4253656"/>
            <a:ext cx="95250" cy="2762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97A53"/>
                </a:solidFill>
                <a:latin typeface="Plus Jakarta Sans"/>
                <a:ea typeface="Plus Jakarta Sans"/>
                <a:cs typeface="Plus Jakarta Sans"/>
                <a:sym typeface="Plus Jakarta Sans"/>
              </a:rPr>
              <a:t>•</a:t>
            </a:r>
            <a:endParaRPr/>
          </a:p>
        </p:txBody>
      </p:sp>
      <p:sp>
        <p:nvSpPr>
          <p:cNvPr id="180" name="Google Shape;180;p19"/>
          <p:cNvSpPr txBox="1"/>
          <p:nvPr/>
        </p:nvSpPr>
        <p:spPr>
          <a:xfrm>
            <a:off x="581025" y="351335"/>
            <a:ext cx="110299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C97A53"/>
                </a:solidFill>
                <a:latin typeface="Plus Jakarta Sans SemiBold"/>
                <a:ea typeface="Plus Jakarta Sans SemiBold"/>
                <a:cs typeface="Plus Jakarta Sans SemiBold"/>
                <a:sym typeface="Plus Jakarta Sans SemiBold"/>
              </a:rPr>
              <a:t>Brand Imagery Mapping</a:t>
            </a:r>
            <a:endParaRPr sz="1800" dirty="0"/>
          </a:p>
        </p:txBody>
      </p:sp>
      <p:sp>
        <p:nvSpPr>
          <p:cNvPr id="181" name="Google Shape;181;p19"/>
          <p:cNvSpPr/>
          <p:nvPr/>
        </p:nvSpPr>
        <p:spPr>
          <a:xfrm>
            <a:off x="581025" y="1367772"/>
            <a:ext cx="11029950" cy="9525"/>
          </a:xfrm>
          <a:prstGeom prst="rect">
            <a:avLst/>
          </a:prstGeom>
          <a:solidFill>
            <a:srgbClr val="0F4C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19"/>
          <p:cNvSpPr txBox="1"/>
          <p:nvPr/>
        </p:nvSpPr>
        <p:spPr>
          <a:xfrm>
            <a:off x="581025" y="6619875"/>
            <a:ext cx="11029950" cy="114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50" b="0" i="0" u="none" strike="noStrike" cap="none">
                <a:solidFill>
                  <a:srgbClr val="8C9BA5"/>
                </a:solidFill>
                <a:latin typeface="Plus Jakarta Sans Medium"/>
                <a:ea typeface="Plus Jakarta Sans Medium"/>
                <a:cs typeface="Plus Jakarta Sans Medium"/>
                <a:sym typeface="Plus Jakarta Sans Medium"/>
              </a:rPr>
              <a:t>PHẦN II: SỨC KHỎE THƯƠNG HIỆU COZY SLIDE 07</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86"/>
        <p:cNvGrpSpPr/>
        <p:nvPr/>
      </p:nvGrpSpPr>
      <p:grpSpPr>
        <a:xfrm>
          <a:off x="0" y="0"/>
          <a:ext cx="0" cy="0"/>
          <a:chOff x="0" y="0"/>
          <a:chExt cx="0" cy="0"/>
        </a:xfrm>
      </p:grpSpPr>
      <p:pic>
        <p:nvPicPr>
          <p:cNvPr id="188" name="Google Shape;188;p20" descr="image.png"/>
          <p:cNvPicPr preferRelativeResize="0"/>
          <p:nvPr/>
        </p:nvPicPr>
        <p:blipFill rotWithShape="1">
          <a:blip r:embed="rId3">
            <a:alphaModFix/>
          </a:blip>
          <a:srcRect/>
          <a:stretch/>
        </p:blipFill>
        <p:spPr>
          <a:xfrm>
            <a:off x="6032896" y="1982985"/>
            <a:ext cx="5578078" cy="3619500"/>
          </a:xfrm>
          <a:prstGeom prst="rect">
            <a:avLst/>
          </a:prstGeom>
          <a:noFill/>
          <a:ln>
            <a:noFill/>
          </a:ln>
        </p:spPr>
      </p:pic>
      <p:sp>
        <p:nvSpPr>
          <p:cNvPr id="189" name="Google Shape;189;p20"/>
          <p:cNvSpPr txBox="1"/>
          <p:nvPr/>
        </p:nvSpPr>
        <p:spPr>
          <a:xfrm>
            <a:off x="581025" y="411427"/>
            <a:ext cx="8233037" cy="701731"/>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3800" b="1" i="0" u="none" strike="noStrike" cap="none" dirty="0" err="1">
                <a:solidFill>
                  <a:srgbClr val="0F4C43"/>
                </a:solidFill>
                <a:latin typeface="Playfair Display"/>
                <a:ea typeface="Playfair Display"/>
                <a:cs typeface="Playfair Display"/>
                <a:sym typeface="Playfair Display"/>
              </a:rPr>
              <a:t>Rào</a:t>
            </a:r>
            <a:r>
              <a:rPr lang="en-US" sz="3800" b="1" i="0" u="none" strike="noStrike" cap="none" dirty="0">
                <a:solidFill>
                  <a:srgbClr val="0F4C43"/>
                </a:solidFill>
                <a:latin typeface="Playfair Display"/>
                <a:ea typeface="Playfair Display"/>
                <a:cs typeface="Playfair Display"/>
                <a:sym typeface="Playfair Display"/>
              </a:rPr>
              <a:t> </a:t>
            </a:r>
            <a:r>
              <a:rPr lang="en-US" sz="3800" b="1" i="0" u="none" strike="noStrike" cap="none" dirty="0" err="1">
                <a:solidFill>
                  <a:srgbClr val="0F4C43"/>
                </a:solidFill>
                <a:latin typeface="Playfair Display"/>
                <a:ea typeface="Playfair Display"/>
                <a:cs typeface="Playfair Display"/>
                <a:sym typeface="Playfair Display"/>
              </a:rPr>
              <a:t>cản</a:t>
            </a:r>
            <a:r>
              <a:rPr lang="en-US" sz="3800" b="1" i="0" u="none" strike="noStrike" cap="none" dirty="0">
                <a:solidFill>
                  <a:srgbClr val="0F4C43"/>
                </a:solidFill>
                <a:latin typeface="Playfair Display"/>
                <a:ea typeface="Playfair Display"/>
                <a:cs typeface="Playfair Display"/>
                <a:sym typeface="Playfair Display"/>
              </a:rPr>
              <a:t> </a:t>
            </a:r>
            <a:r>
              <a:rPr lang="en-US" sz="3800" b="1" i="0" u="none" strike="noStrike" cap="none" dirty="0" err="1">
                <a:solidFill>
                  <a:srgbClr val="0F4C43"/>
                </a:solidFill>
                <a:latin typeface="Playfair Display"/>
                <a:ea typeface="Playfair Display"/>
                <a:cs typeface="Playfair Display"/>
                <a:sym typeface="Playfair Display"/>
              </a:rPr>
              <a:t>chí</a:t>
            </a:r>
            <a:r>
              <a:rPr lang="en-US" sz="3800" b="1" i="0" u="none" strike="noStrike" cap="none" dirty="0">
                <a:solidFill>
                  <a:srgbClr val="0F4C43"/>
                </a:solidFill>
                <a:latin typeface="Playfair Display"/>
                <a:ea typeface="Playfair Display"/>
                <a:cs typeface="Playfair Display"/>
                <a:sym typeface="Playfair Display"/>
              </a:rPr>
              <a:t> </a:t>
            </a:r>
            <a:r>
              <a:rPr lang="en-US" sz="3800" b="1" i="0" u="none" strike="noStrike" cap="none" dirty="0" err="1">
                <a:solidFill>
                  <a:srgbClr val="0F4C43"/>
                </a:solidFill>
                <a:latin typeface="Playfair Display"/>
                <a:ea typeface="Playfair Display"/>
                <a:cs typeface="Playfair Display"/>
                <a:sym typeface="Playfair Display"/>
              </a:rPr>
              <a:t>tử</a:t>
            </a:r>
            <a:r>
              <a:rPr lang="en-US" sz="3800" b="1" i="0" u="none" strike="noStrike" cap="none" dirty="0">
                <a:solidFill>
                  <a:srgbClr val="0F4C43"/>
                </a:solidFill>
                <a:latin typeface="Playfair Display"/>
                <a:ea typeface="Playfair Display"/>
                <a:cs typeface="Playfair Display"/>
                <a:sym typeface="Playfair Display"/>
              </a:rPr>
              <a:t> </a:t>
            </a:r>
            <a:r>
              <a:rPr lang="en-US" sz="3800" b="1" i="0" u="none" strike="noStrike" cap="none" dirty="0" err="1">
                <a:solidFill>
                  <a:srgbClr val="0F4C43"/>
                </a:solidFill>
                <a:latin typeface="Playfair Display"/>
                <a:ea typeface="Playfair Display"/>
                <a:cs typeface="Playfair Display"/>
                <a:sym typeface="Playfair Display"/>
              </a:rPr>
              <a:t>ngăn</a:t>
            </a:r>
            <a:r>
              <a:rPr lang="en-US" sz="3800" b="1" i="0" u="none" strike="noStrike" cap="none" dirty="0">
                <a:solidFill>
                  <a:srgbClr val="0F4C43"/>
                </a:solidFill>
                <a:latin typeface="Playfair Display"/>
                <a:ea typeface="Playfair Display"/>
                <a:cs typeface="Playfair Display"/>
                <a:sym typeface="Playfair Display"/>
              </a:rPr>
              <a:t> </a:t>
            </a:r>
            <a:r>
              <a:rPr lang="en-US" sz="3800" b="1" i="0" u="none" strike="noStrike" cap="none" dirty="0" err="1">
                <a:solidFill>
                  <a:srgbClr val="0F4C43"/>
                </a:solidFill>
                <a:latin typeface="Playfair Display"/>
                <a:ea typeface="Playfair Display"/>
                <a:cs typeface="Playfair Display"/>
                <a:sym typeface="Playfair Display"/>
              </a:rPr>
              <a:t>chuyển</a:t>
            </a:r>
            <a:r>
              <a:rPr lang="en-US" sz="3800" b="1" i="0" u="none" strike="noStrike" cap="none" dirty="0">
                <a:solidFill>
                  <a:srgbClr val="0F4C43"/>
                </a:solidFill>
                <a:latin typeface="Playfair Display"/>
                <a:ea typeface="Playfair Display"/>
                <a:cs typeface="Playfair Display"/>
                <a:sym typeface="Playfair Display"/>
              </a:rPr>
              <a:t> </a:t>
            </a:r>
            <a:r>
              <a:rPr lang="en-US" sz="3800" b="1" i="0" u="none" strike="noStrike" cap="none" dirty="0" err="1">
                <a:solidFill>
                  <a:srgbClr val="0F4C43"/>
                </a:solidFill>
                <a:latin typeface="Playfair Display"/>
                <a:ea typeface="Playfair Display"/>
                <a:cs typeface="Playfair Display"/>
                <a:sym typeface="Playfair Display"/>
              </a:rPr>
              <a:t>đổi</a:t>
            </a:r>
            <a:endParaRPr sz="3800" dirty="0"/>
          </a:p>
        </p:txBody>
      </p:sp>
      <p:sp>
        <p:nvSpPr>
          <p:cNvPr id="190" name="Google Shape;190;p20"/>
          <p:cNvSpPr txBox="1"/>
          <p:nvPr/>
        </p:nvSpPr>
        <p:spPr>
          <a:xfrm>
            <a:off x="571499" y="1572293"/>
            <a:ext cx="5324415" cy="369332"/>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2400" b="1" i="0" u="none" strike="noStrike" cap="none" dirty="0" err="1">
                <a:solidFill>
                  <a:srgbClr val="0F4C43"/>
                </a:solidFill>
                <a:latin typeface="Playfair Display"/>
                <a:ea typeface="Playfair Display"/>
                <a:cs typeface="Playfair Display"/>
                <a:sym typeface="Playfair Display"/>
              </a:rPr>
              <a:t>Hương</a:t>
            </a:r>
            <a:r>
              <a:rPr lang="en-US" sz="2400" b="1" i="0" u="none" strike="noStrike" cap="none" dirty="0">
                <a:solidFill>
                  <a:srgbClr val="0F4C43"/>
                </a:solidFill>
                <a:latin typeface="Playfair Display"/>
                <a:ea typeface="Playfair Display"/>
                <a:cs typeface="Playfair Display"/>
                <a:sym typeface="Playfair Display"/>
              </a:rPr>
              <a:t> </a:t>
            </a:r>
            <a:r>
              <a:rPr lang="en-US" sz="2400" b="1" i="0" u="none" strike="noStrike" cap="none" dirty="0" err="1">
                <a:solidFill>
                  <a:srgbClr val="0F4C43"/>
                </a:solidFill>
                <a:latin typeface="Playfair Display"/>
                <a:ea typeface="Playfair Display"/>
                <a:cs typeface="Playfair Display"/>
                <a:sym typeface="Playfair Display"/>
              </a:rPr>
              <a:t>vị</a:t>
            </a:r>
            <a:r>
              <a:rPr lang="en-US" sz="2400" b="1" i="0" u="none" strike="noStrike" cap="none" dirty="0">
                <a:solidFill>
                  <a:srgbClr val="0F4C43"/>
                </a:solidFill>
                <a:latin typeface="Playfair Display"/>
                <a:ea typeface="Playfair Display"/>
                <a:cs typeface="Playfair Display"/>
                <a:sym typeface="Playfair Display"/>
              </a:rPr>
              <a:t> </a:t>
            </a:r>
            <a:r>
              <a:rPr lang="en-US" sz="2400" b="1" i="0" u="none" strike="noStrike" cap="none" dirty="0" err="1">
                <a:solidFill>
                  <a:srgbClr val="0F4C43"/>
                </a:solidFill>
                <a:latin typeface="Playfair Display"/>
                <a:ea typeface="Playfair Display"/>
                <a:cs typeface="Playfair Display"/>
                <a:sym typeface="Playfair Display"/>
              </a:rPr>
              <a:t>chưa</a:t>
            </a:r>
            <a:r>
              <a:rPr lang="en-US" sz="2400" b="1" i="0" u="none" strike="noStrike" cap="none" dirty="0">
                <a:solidFill>
                  <a:srgbClr val="0F4C43"/>
                </a:solidFill>
                <a:latin typeface="Playfair Display"/>
                <a:ea typeface="Playfair Display"/>
                <a:cs typeface="Playfair Display"/>
                <a:sym typeface="Playfair Display"/>
              </a:rPr>
              <a:t> </a:t>
            </a:r>
            <a:r>
              <a:rPr lang="en-US" sz="2400" b="1" i="0" u="none" strike="noStrike" cap="none" dirty="0" err="1">
                <a:solidFill>
                  <a:srgbClr val="0F4C43"/>
                </a:solidFill>
                <a:latin typeface="Playfair Display"/>
                <a:ea typeface="Playfair Display"/>
                <a:cs typeface="Playfair Display"/>
                <a:sym typeface="Playfair Display"/>
              </a:rPr>
              <a:t>phù</a:t>
            </a:r>
            <a:r>
              <a:rPr lang="en-US" sz="2400" b="1" i="0" u="none" strike="noStrike" cap="none" dirty="0">
                <a:solidFill>
                  <a:srgbClr val="0F4C43"/>
                </a:solidFill>
                <a:latin typeface="Playfair Display"/>
                <a:ea typeface="Playfair Display"/>
                <a:cs typeface="Playfair Display"/>
                <a:sym typeface="Playfair Display"/>
              </a:rPr>
              <a:t> </a:t>
            </a:r>
            <a:r>
              <a:rPr lang="en-US" sz="2400" b="1" i="0" u="none" strike="noStrike" cap="none" dirty="0" err="1">
                <a:solidFill>
                  <a:srgbClr val="0F4C43"/>
                </a:solidFill>
                <a:latin typeface="Playfair Display"/>
                <a:ea typeface="Playfair Display"/>
                <a:cs typeface="Playfair Display"/>
                <a:sym typeface="Playfair Display"/>
              </a:rPr>
              <a:t>hợp</a:t>
            </a:r>
            <a:r>
              <a:rPr lang="en-US" sz="2400" b="1" i="0" u="none" strike="noStrike" cap="none" dirty="0">
                <a:solidFill>
                  <a:srgbClr val="0F4C43"/>
                </a:solidFill>
                <a:latin typeface="Playfair Display"/>
                <a:ea typeface="Playfair Display"/>
                <a:cs typeface="Playfair Display"/>
                <a:sym typeface="Playfair Display"/>
              </a:rPr>
              <a:t> </a:t>
            </a:r>
            <a:r>
              <a:rPr lang="en-US" sz="2400" b="1" i="0" u="none" strike="noStrike" cap="none" dirty="0" err="1">
                <a:solidFill>
                  <a:srgbClr val="0F4C43"/>
                </a:solidFill>
                <a:latin typeface="Playfair Display"/>
                <a:ea typeface="Playfair Display"/>
                <a:cs typeface="Playfair Display"/>
                <a:sym typeface="Playfair Display"/>
              </a:rPr>
              <a:t>thị</a:t>
            </a:r>
            <a:r>
              <a:rPr lang="en-US" sz="2400" b="1" i="0" u="none" strike="noStrike" cap="none" dirty="0">
                <a:solidFill>
                  <a:srgbClr val="0F4C43"/>
                </a:solidFill>
                <a:latin typeface="Playfair Display"/>
                <a:ea typeface="Playfair Display"/>
                <a:cs typeface="Playfair Display"/>
                <a:sym typeface="Playfair Display"/>
              </a:rPr>
              <a:t> </a:t>
            </a:r>
            <a:r>
              <a:rPr lang="en-US" sz="2400" b="1" i="0" u="none" strike="noStrike" cap="none" dirty="0" err="1">
                <a:solidFill>
                  <a:srgbClr val="0F4C43"/>
                </a:solidFill>
                <a:latin typeface="Playfair Display"/>
                <a:ea typeface="Playfair Display"/>
                <a:cs typeface="Playfair Display"/>
                <a:sym typeface="Playfair Display"/>
              </a:rPr>
              <a:t>hiếu</a:t>
            </a:r>
            <a:endParaRPr sz="2400" dirty="0"/>
          </a:p>
        </p:txBody>
      </p:sp>
      <p:sp>
        <p:nvSpPr>
          <p:cNvPr id="191" name="Google Shape;191;p20"/>
          <p:cNvSpPr txBox="1"/>
          <p:nvPr/>
        </p:nvSpPr>
        <p:spPr>
          <a:xfrm>
            <a:off x="571499" y="1971390"/>
            <a:ext cx="5070871" cy="1575816"/>
          </a:xfrm>
          <a:prstGeom prst="rect">
            <a:avLst/>
          </a:prstGeom>
          <a:noFill/>
          <a:ln>
            <a:noFill/>
          </a:ln>
        </p:spPr>
        <p:txBody>
          <a:bodyPr spcFirstLastPara="1" wrap="square" lIns="0" tIns="0" rIns="0" bIns="0" anchor="t" anchorCtr="0">
            <a:spAutoFit/>
          </a:bodyPr>
          <a:lstStyle/>
          <a:p>
            <a:pPr marL="0" marR="0" lvl="0" indent="0" algn="just" rtl="0">
              <a:lnSpc>
                <a:spcPct val="159904"/>
              </a:lnSpc>
              <a:spcBef>
                <a:spcPts val="0"/>
              </a:spcBef>
              <a:spcAft>
                <a:spcPts val="0"/>
              </a:spcAft>
              <a:buNone/>
            </a:pPr>
            <a:r>
              <a:rPr lang="en-US" sz="1600" b="0" i="0" u="none" strike="noStrike" cap="none" dirty="0" err="1">
                <a:solidFill>
                  <a:srgbClr val="4A5560"/>
                </a:solidFill>
                <a:latin typeface="Plus Jakarta Sans"/>
                <a:ea typeface="Plus Jakarta Sans"/>
                <a:cs typeface="Plus Jakarta Sans"/>
                <a:sym typeface="Plus Jakarta Sans"/>
              </a:rPr>
              <a:t>Mặc</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dù</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sở</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hữu</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độ</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nhận</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biết</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cao</a:t>
            </a:r>
            <a:r>
              <a:rPr lang="en-US" sz="1600" b="0" i="0" u="none" strike="noStrike" cap="none" dirty="0">
                <a:solidFill>
                  <a:srgbClr val="4A5560"/>
                </a:solidFill>
                <a:latin typeface="Plus Jakarta Sans"/>
                <a:ea typeface="Plus Jakarta Sans"/>
                <a:cs typeface="Plus Jakarta Sans"/>
                <a:sym typeface="Plus Jakarta Sans"/>
              </a:rPr>
              <a:t> (Aided Awareness ~92%), </a:t>
            </a:r>
            <a:r>
              <a:rPr lang="en-US" sz="1600" b="0" i="0" u="none" strike="noStrike" cap="none" dirty="0" err="1">
                <a:solidFill>
                  <a:srgbClr val="4A5560"/>
                </a:solidFill>
                <a:latin typeface="Plus Jakarta Sans"/>
                <a:ea typeface="Plus Jakarta Sans"/>
                <a:cs typeface="Plus Jakarta Sans"/>
                <a:sym typeface="Plus Jakarta Sans"/>
              </a:rPr>
              <a:t>lý</a:t>
            </a:r>
            <a:r>
              <a:rPr lang="en-US" sz="1600" b="0" i="0" u="none" strike="noStrike" cap="none" dirty="0">
                <a:solidFill>
                  <a:srgbClr val="4A5560"/>
                </a:solidFill>
                <a:latin typeface="Plus Jakarta Sans"/>
                <a:ea typeface="Plus Jakarta Sans"/>
                <a:cs typeface="Plus Jakarta Sans"/>
                <a:sym typeface="Plus Jakarta Sans"/>
              </a:rPr>
              <a:t> do </a:t>
            </a:r>
            <a:r>
              <a:rPr lang="en-US" sz="1600" b="0" i="0" u="none" strike="noStrike" cap="none" dirty="0" err="1">
                <a:solidFill>
                  <a:srgbClr val="4A5560"/>
                </a:solidFill>
                <a:latin typeface="Plus Jakarta Sans"/>
                <a:ea typeface="Plus Jakarta Sans"/>
                <a:cs typeface="Plus Jakarta Sans"/>
                <a:sym typeface="Plus Jakarta Sans"/>
              </a:rPr>
              <a:t>hàng</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đầu</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khiến</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khách</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hàng</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từ</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chối</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cân</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nhắc</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sử</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dụng</a:t>
            </a:r>
            <a:r>
              <a:rPr lang="en-US" sz="1600" b="0" i="0" u="none" strike="noStrike" cap="none" dirty="0">
                <a:solidFill>
                  <a:srgbClr val="4A5560"/>
                </a:solidFill>
                <a:latin typeface="Plus Jakarta Sans"/>
                <a:ea typeface="Plus Jakarta Sans"/>
                <a:cs typeface="Plus Jakarta Sans"/>
                <a:sym typeface="Plus Jakarta Sans"/>
              </a:rPr>
              <a:t> Cozy </a:t>
            </a:r>
            <a:r>
              <a:rPr lang="en-US" sz="1600" b="0" i="0" u="none" strike="noStrike" cap="none" dirty="0" err="1">
                <a:solidFill>
                  <a:srgbClr val="4A5560"/>
                </a:solidFill>
                <a:latin typeface="Plus Jakarta Sans"/>
                <a:ea typeface="Plus Jakarta Sans"/>
                <a:cs typeface="Plus Jakarta Sans"/>
                <a:sym typeface="Plus Jakarta Sans"/>
              </a:rPr>
              <a:t>là</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a:solidFill>
                  <a:srgbClr val="0F4C43"/>
                </a:solidFill>
                <a:latin typeface="Plus Jakarta Sans SemiBold"/>
                <a:ea typeface="Plus Jakarta Sans SemiBold"/>
                <a:cs typeface="Plus Jakarta Sans SemiBold"/>
                <a:sym typeface="Plus Jakarta Sans SemiBold"/>
              </a:rPr>
              <a:t>"</a:t>
            </a:r>
            <a:r>
              <a:rPr lang="en-US" sz="1600" b="0" i="0" u="none" strike="noStrike" cap="none" dirty="0" err="1">
                <a:solidFill>
                  <a:srgbClr val="0F4C43"/>
                </a:solidFill>
                <a:latin typeface="Plus Jakarta Sans SemiBold"/>
                <a:ea typeface="Plus Jakarta Sans SemiBold"/>
                <a:cs typeface="Plus Jakarta Sans SemiBold"/>
                <a:sym typeface="Plus Jakarta Sans SemiBold"/>
              </a:rPr>
              <a:t>Không</a:t>
            </a:r>
            <a:r>
              <a:rPr lang="en-US" sz="1600" b="0" i="0" u="none" strike="noStrike" cap="none" dirty="0">
                <a:solidFill>
                  <a:srgbClr val="0F4C43"/>
                </a:solidFill>
                <a:latin typeface="Plus Jakarta Sans SemiBold"/>
                <a:ea typeface="Plus Jakarta Sans SemiBold"/>
                <a:cs typeface="Plus Jakarta Sans SemiBold"/>
                <a:sym typeface="Plus Jakarta Sans SemiBold"/>
              </a:rPr>
              <a:t> </a:t>
            </a:r>
            <a:r>
              <a:rPr lang="en-US" sz="1600" b="0" i="0" u="none" strike="noStrike" cap="none" dirty="0" err="1">
                <a:solidFill>
                  <a:srgbClr val="0F4C43"/>
                </a:solidFill>
                <a:latin typeface="Plus Jakarta Sans SemiBold"/>
                <a:ea typeface="Plus Jakarta Sans SemiBold"/>
                <a:cs typeface="Plus Jakarta Sans SemiBold"/>
                <a:sym typeface="Plus Jakarta Sans SemiBold"/>
              </a:rPr>
              <a:t>thích</a:t>
            </a:r>
            <a:r>
              <a:rPr lang="en-US" sz="1600" b="0" i="0" u="none" strike="noStrike" cap="none" dirty="0">
                <a:solidFill>
                  <a:srgbClr val="0F4C43"/>
                </a:solidFill>
                <a:latin typeface="Plus Jakarta Sans SemiBold"/>
                <a:ea typeface="Plus Jakarta Sans SemiBold"/>
                <a:cs typeface="Plus Jakarta Sans SemiBold"/>
                <a:sym typeface="Plus Jakarta Sans SemiBold"/>
              </a:rPr>
              <a:t> </a:t>
            </a:r>
            <a:r>
              <a:rPr lang="en-US" sz="1600" b="0" i="0" u="none" strike="noStrike" cap="none" dirty="0" err="1">
                <a:solidFill>
                  <a:srgbClr val="0F4C43"/>
                </a:solidFill>
                <a:latin typeface="Plus Jakarta Sans SemiBold"/>
                <a:ea typeface="Plus Jakarta Sans SemiBold"/>
                <a:cs typeface="Plus Jakarta Sans SemiBold"/>
                <a:sym typeface="Plus Jakarta Sans SemiBold"/>
              </a:rPr>
              <a:t>vị</a:t>
            </a:r>
            <a:r>
              <a:rPr lang="en-US" sz="1600" b="0" i="0" u="none" strike="noStrike" cap="none" dirty="0">
                <a:solidFill>
                  <a:srgbClr val="0F4C43"/>
                </a:solidFill>
                <a:latin typeface="Plus Jakarta Sans SemiBold"/>
                <a:ea typeface="Plus Jakarta Sans SemiBold"/>
                <a:cs typeface="Plus Jakarta Sans SemiBold"/>
                <a:sym typeface="Plus Jakarta Sans SemiBold"/>
              </a:rPr>
              <a:t>/</a:t>
            </a:r>
            <a:r>
              <a:rPr lang="en-US" sz="1600" b="0" i="0" u="none" strike="noStrike" cap="none" dirty="0" err="1">
                <a:solidFill>
                  <a:srgbClr val="0F4C43"/>
                </a:solidFill>
                <a:latin typeface="Plus Jakarta Sans SemiBold"/>
                <a:ea typeface="Plus Jakarta Sans SemiBold"/>
                <a:cs typeface="Plus Jakarta Sans SemiBold"/>
                <a:sym typeface="Plus Jakarta Sans SemiBold"/>
              </a:rPr>
              <a:t>Vị</a:t>
            </a:r>
            <a:r>
              <a:rPr lang="en-US" sz="1600" b="0" i="0" u="none" strike="noStrike" cap="none" dirty="0">
                <a:solidFill>
                  <a:srgbClr val="0F4C43"/>
                </a:solidFill>
                <a:latin typeface="Plus Jakarta Sans SemiBold"/>
                <a:ea typeface="Plus Jakarta Sans SemiBold"/>
                <a:cs typeface="Plus Jakarta Sans SemiBold"/>
                <a:sym typeface="Plus Jakarta Sans SemiBold"/>
              </a:rPr>
              <a:t> </a:t>
            </a:r>
            <a:r>
              <a:rPr lang="en-US" sz="1600" b="0" i="0" u="none" strike="noStrike" cap="none" dirty="0" err="1">
                <a:solidFill>
                  <a:srgbClr val="0F4C43"/>
                </a:solidFill>
                <a:latin typeface="Plus Jakarta Sans SemiBold"/>
                <a:ea typeface="Plus Jakarta Sans SemiBold"/>
                <a:cs typeface="Plus Jakarta Sans SemiBold"/>
                <a:sym typeface="Plus Jakarta Sans SemiBold"/>
              </a:rPr>
              <a:t>không</a:t>
            </a:r>
            <a:r>
              <a:rPr lang="en-US" sz="1600" b="0" i="0" u="none" strike="noStrike" cap="none" dirty="0">
                <a:solidFill>
                  <a:srgbClr val="0F4C43"/>
                </a:solidFill>
                <a:latin typeface="Plus Jakarta Sans SemiBold"/>
                <a:ea typeface="Plus Jakarta Sans SemiBold"/>
                <a:cs typeface="Plus Jakarta Sans SemiBold"/>
                <a:sym typeface="Plus Jakarta Sans SemiBold"/>
              </a:rPr>
              <a:t> </a:t>
            </a:r>
            <a:r>
              <a:rPr lang="en-US" sz="1600" b="0" i="0" u="none" strike="noStrike" cap="none" dirty="0" err="1">
                <a:solidFill>
                  <a:srgbClr val="0F4C43"/>
                </a:solidFill>
                <a:latin typeface="Plus Jakarta Sans SemiBold"/>
                <a:ea typeface="Plus Jakarta Sans SemiBold"/>
                <a:cs typeface="Plus Jakarta Sans SemiBold"/>
                <a:sym typeface="Plus Jakarta Sans SemiBold"/>
              </a:rPr>
              <a:t>ngon</a:t>
            </a:r>
            <a:r>
              <a:rPr lang="en-US" sz="1600" b="0" i="0" u="none" strike="noStrike" cap="none" dirty="0">
                <a:solidFill>
                  <a:srgbClr val="0F4C43"/>
                </a:solidFill>
                <a:latin typeface="Plus Jakarta Sans SemiBold"/>
                <a:ea typeface="Plus Jakarta Sans SemiBold"/>
                <a:cs typeface="Plus Jakarta Sans SemiBold"/>
                <a:sym typeface="Plus Jakarta Sans SemiBold"/>
              </a:rPr>
              <a:t>" </a:t>
            </a:r>
            <a:r>
              <a:rPr lang="en-US" sz="1600" b="0" i="0" u="none" strike="noStrike" cap="none" dirty="0" err="1">
                <a:solidFill>
                  <a:srgbClr val="0F4C43"/>
                </a:solidFill>
                <a:latin typeface="Plus Jakarta Sans SemiBold"/>
                <a:ea typeface="Plus Jakarta Sans SemiBold"/>
                <a:cs typeface="Plus Jakarta Sans SemiBold"/>
                <a:sym typeface="Plus Jakarta Sans SemiBold"/>
              </a:rPr>
              <a:t>chiếm</a:t>
            </a:r>
            <a:r>
              <a:rPr lang="en-US" sz="1600" b="0" i="0" u="none" strike="noStrike" cap="none" dirty="0">
                <a:solidFill>
                  <a:srgbClr val="0F4C43"/>
                </a:solidFill>
                <a:latin typeface="Plus Jakarta Sans SemiBold"/>
                <a:ea typeface="Plus Jakarta Sans SemiBold"/>
                <a:cs typeface="Plus Jakarta Sans SemiBold"/>
                <a:sym typeface="Plus Jakarta Sans SemiBold"/>
              </a:rPr>
              <a:t> </a:t>
            </a:r>
            <a:r>
              <a:rPr lang="en-US" sz="1600" b="0" i="0" u="none" strike="noStrike" cap="none" dirty="0" err="1">
                <a:solidFill>
                  <a:srgbClr val="0F4C43"/>
                </a:solidFill>
                <a:latin typeface="Plus Jakarta Sans SemiBold"/>
                <a:ea typeface="Plus Jakarta Sans SemiBold"/>
                <a:cs typeface="Plus Jakarta Sans SemiBold"/>
                <a:sym typeface="Plus Jakarta Sans SemiBold"/>
              </a:rPr>
              <a:t>tới</a:t>
            </a:r>
            <a:r>
              <a:rPr lang="en-US" sz="1600" b="0" i="0" u="none" strike="noStrike" cap="none" dirty="0">
                <a:solidFill>
                  <a:srgbClr val="0F4C43"/>
                </a:solidFill>
                <a:latin typeface="Plus Jakarta Sans SemiBold"/>
                <a:ea typeface="Plus Jakarta Sans SemiBold"/>
                <a:cs typeface="Plus Jakarta Sans SemiBold"/>
                <a:sym typeface="Plus Jakarta Sans SemiBold"/>
              </a:rPr>
              <a:t> 19.5%</a:t>
            </a:r>
            <a:r>
              <a:rPr lang="en-US" sz="1600" b="0" i="0" u="none" strike="noStrike" cap="none" dirty="0">
                <a:solidFill>
                  <a:srgbClr val="4A5560"/>
                </a:solidFill>
                <a:latin typeface="Plus Jakarta Sans"/>
                <a:ea typeface="Plus Jakarta Sans"/>
                <a:cs typeface="Plus Jakarta Sans"/>
                <a:sym typeface="Plus Jakarta Sans"/>
              </a:rPr>
              <a:t>.</a:t>
            </a:r>
            <a:endParaRPr sz="2400" dirty="0"/>
          </a:p>
        </p:txBody>
      </p:sp>
      <p:sp>
        <p:nvSpPr>
          <p:cNvPr id="192" name="Google Shape;192;p20"/>
          <p:cNvSpPr txBox="1"/>
          <p:nvPr/>
        </p:nvSpPr>
        <p:spPr>
          <a:xfrm>
            <a:off x="581025" y="3576971"/>
            <a:ext cx="5070871" cy="1181862"/>
          </a:xfrm>
          <a:prstGeom prst="rect">
            <a:avLst/>
          </a:prstGeom>
          <a:noFill/>
          <a:ln>
            <a:noFill/>
          </a:ln>
        </p:spPr>
        <p:txBody>
          <a:bodyPr spcFirstLastPara="1" wrap="square" lIns="0" tIns="0" rIns="0" bIns="0" anchor="t" anchorCtr="0">
            <a:spAutoFit/>
          </a:bodyPr>
          <a:lstStyle/>
          <a:p>
            <a:pPr marL="0" marR="0" lvl="0" indent="0" algn="just" rtl="0">
              <a:lnSpc>
                <a:spcPct val="159904"/>
              </a:lnSpc>
              <a:spcBef>
                <a:spcPts val="0"/>
              </a:spcBef>
              <a:spcAft>
                <a:spcPts val="0"/>
              </a:spcAft>
              <a:buNone/>
            </a:pPr>
            <a:r>
              <a:rPr lang="en-US" sz="1600" b="0" i="0" u="none" strike="noStrike" cap="none" dirty="0" err="1">
                <a:solidFill>
                  <a:srgbClr val="4A5560"/>
                </a:solidFill>
                <a:latin typeface="Plus Jakarta Sans"/>
                <a:ea typeface="Plus Jakarta Sans"/>
                <a:cs typeface="Plus Jakarta Sans"/>
                <a:sym typeface="Plus Jakarta Sans"/>
              </a:rPr>
              <a:t>Tỷ</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lệ</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từ</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chối</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vì</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lý</a:t>
            </a:r>
            <a:r>
              <a:rPr lang="en-US" sz="1600" b="0" i="0" u="none" strike="noStrike" cap="none" dirty="0">
                <a:solidFill>
                  <a:srgbClr val="4A5560"/>
                </a:solidFill>
                <a:latin typeface="Plus Jakarta Sans"/>
                <a:ea typeface="Plus Jakarta Sans"/>
                <a:cs typeface="Plus Jakarta Sans"/>
                <a:sym typeface="Plus Jakarta Sans"/>
              </a:rPr>
              <a:t> do </a:t>
            </a:r>
            <a:r>
              <a:rPr lang="en-US" sz="1600" b="0" i="0" u="none" strike="noStrike" cap="none" dirty="0" err="1">
                <a:solidFill>
                  <a:srgbClr val="4A5560"/>
                </a:solidFill>
                <a:latin typeface="Plus Jakarta Sans"/>
                <a:ea typeface="Plus Jakarta Sans"/>
                <a:cs typeface="Plus Jakarta Sans"/>
                <a:sym typeface="Plus Jakarta Sans"/>
              </a:rPr>
              <a:t>cảm</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quan</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này</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của</a:t>
            </a:r>
            <a:r>
              <a:rPr lang="en-US" sz="1600" b="0" i="0" u="none" strike="noStrike" cap="none" dirty="0">
                <a:solidFill>
                  <a:srgbClr val="4A5560"/>
                </a:solidFill>
                <a:latin typeface="Plus Jakarta Sans"/>
                <a:ea typeface="Plus Jakarta Sans"/>
                <a:cs typeface="Plus Jakarta Sans"/>
                <a:sym typeface="Plus Jakarta Sans"/>
              </a:rPr>
              <a:t> Cozy </a:t>
            </a:r>
            <a:r>
              <a:rPr lang="en-US" sz="1600" b="0" i="0" u="none" strike="noStrike" cap="none" dirty="0" err="1">
                <a:solidFill>
                  <a:srgbClr val="4A5560"/>
                </a:solidFill>
                <a:latin typeface="Plus Jakarta Sans"/>
                <a:ea typeface="Plus Jakarta Sans"/>
                <a:cs typeface="Plus Jakarta Sans"/>
                <a:sym typeface="Plus Jakarta Sans"/>
              </a:rPr>
              <a:t>cao</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gấp</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a:solidFill>
                  <a:srgbClr val="0F4C43"/>
                </a:solidFill>
                <a:latin typeface="Plus Jakarta Sans SemiBold"/>
                <a:ea typeface="Plus Jakarta Sans SemiBold"/>
                <a:cs typeface="Plus Jakarta Sans SemiBold"/>
                <a:sym typeface="Plus Jakarta Sans SemiBold"/>
              </a:rPr>
              <a:t>5 </a:t>
            </a:r>
            <a:r>
              <a:rPr lang="en-US" sz="1600" b="0" i="0" u="none" strike="noStrike" cap="none" dirty="0" err="1">
                <a:solidFill>
                  <a:srgbClr val="0F4C43"/>
                </a:solidFill>
                <a:latin typeface="Plus Jakarta Sans SemiBold"/>
                <a:ea typeface="Plus Jakarta Sans SemiBold"/>
                <a:cs typeface="Plus Jakarta Sans SemiBold"/>
                <a:sym typeface="Plus Jakarta Sans SemiBold"/>
              </a:rPr>
              <a:t>lần</a:t>
            </a:r>
            <a:r>
              <a:rPr lang="en-US" sz="1600" b="0" i="0" u="none" strike="noStrike" cap="none" dirty="0">
                <a:solidFill>
                  <a:srgbClr val="4A5560"/>
                </a:solidFill>
                <a:latin typeface="Plus Jakarta Sans"/>
                <a:ea typeface="Plus Jakarta Sans"/>
                <a:cs typeface="Plus Jakarta Sans"/>
                <a:sym typeface="Plus Jakarta Sans"/>
              </a:rPr>
              <a:t> so </a:t>
            </a:r>
            <a:r>
              <a:rPr lang="en-US" sz="1600" b="0" i="0" u="none" strike="noStrike" cap="none" dirty="0" err="1">
                <a:solidFill>
                  <a:srgbClr val="4A5560"/>
                </a:solidFill>
                <a:latin typeface="Plus Jakarta Sans"/>
                <a:ea typeface="Plus Jakarta Sans"/>
                <a:cs typeface="Plus Jakarta Sans"/>
                <a:sym typeface="Plus Jakarta Sans"/>
              </a:rPr>
              <a:t>với</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hai</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đối</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thủ</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thống</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trị</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thị</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trường</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là</a:t>
            </a:r>
            <a:r>
              <a:rPr lang="en-US" sz="1600" b="0" i="0" u="none" strike="noStrike" cap="none" dirty="0">
                <a:solidFill>
                  <a:srgbClr val="4A5560"/>
                </a:solidFill>
                <a:latin typeface="Plus Jakarta Sans"/>
                <a:ea typeface="Plus Jakarta Sans"/>
                <a:cs typeface="Plus Jakarta Sans"/>
                <a:sym typeface="Plus Jakarta Sans"/>
              </a:rPr>
              <a:t> C2 (3.8%) </a:t>
            </a:r>
            <a:r>
              <a:rPr lang="en-US" sz="1600" b="0" i="0" u="none" strike="noStrike" cap="none" dirty="0" err="1">
                <a:solidFill>
                  <a:srgbClr val="4A5560"/>
                </a:solidFill>
                <a:latin typeface="Plus Jakarta Sans"/>
                <a:ea typeface="Plus Jakarta Sans"/>
                <a:cs typeface="Plus Jakarta Sans"/>
                <a:sym typeface="Plus Jakarta Sans"/>
              </a:rPr>
              <a:t>và</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OLong</a:t>
            </a:r>
            <a:r>
              <a:rPr lang="en-US" sz="1600" b="0" i="0" u="none" strike="noStrike" cap="none" dirty="0">
                <a:solidFill>
                  <a:srgbClr val="4A5560"/>
                </a:solidFill>
                <a:latin typeface="Plus Jakarta Sans"/>
                <a:ea typeface="Plus Jakarta Sans"/>
                <a:cs typeface="Plus Jakarta Sans"/>
                <a:sym typeface="Plus Jakarta Sans"/>
              </a:rPr>
              <a:t> Tea Plus (3.8%).</a:t>
            </a:r>
            <a:endParaRPr sz="2400" dirty="0"/>
          </a:p>
        </p:txBody>
      </p:sp>
      <p:sp>
        <p:nvSpPr>
          <p:cNvPr id="193" name="Google Shape;193;p20"/>
          <p:cNvSpPr txBox="1"/>
          <p:nvPr/>
        </p:nvSpPr>
        <p:spPr>
          <a:xfrm>
            <a:off x="571498" y="4910055"/>
            <a:ext cx="5070871" cy="1181862"/>
          </a:xfrm>
          <a:prstGeom prst="rect">
            <a:avLst/>
          </a:prstGeom>
          <a:noFill/>
          <a:ln>
            <a:noFill/>
          </a:ln>
        </p:spPr>
        <p:txBody>
          <a:bodyPr spcFirstLastPara="1" wrap="square" lIns="0" tIns="0" rIns="0" bIns="0" anchor="t" anchorCtr="0">
            <a:spAutoFit/>
          </a:bodyPr>
          <a:lstStyle/>
          <a:p>
            <a:pPr marL="0" marR="0" lvl="0" indent="0" algn="just" rtl="0">
              <a:lnSpc>
                <a:spcPct val="159904"/>
              </a:lnSpc>
              <a:spcBef>
                <a:spcPts val="0"/>
              </a:spcBef>
              <a:spcAft>
                <a:spcPts val="0"/>
              </a:spcAft>
              <a:buNone/>
            </a:pPr>
            <a:r>
              <a:rPr lang="en-US" sz="1600" b="0" i="0" u="none" strike="noStrike" cap="none" dirty="0" err="1">
                <a:solidFill>
                  <a:srgbClr val="4A5560"/>
                </a:solidFill>
                <a:latin typeface="Plus Jakarta Sans"/>
                <a:ea typeface="Plus Jakarta Sans"/>
                <a:cs typeface="Plus Jakarta Sans"/>
                <a:sym typeface="Plus Jakarta Sans"/>
              </a:rPr>
              <a:t>Đây</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là</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điểm</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nghẽn</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nghiêm</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trọng</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nhất</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trong</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phễu</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chuyển</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đổi</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từ</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nhận</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biết</a:t>
            </a:r>
            <a:r>
              <a:rPr lang="en-US" sz="1600" b="0" i="0" u="none" strike="noStrike" cap="none" dirty="0">
                <a:solidFill>
                  <a:srgbClr val="4A5560"/>
                </a:solidFill>
                <a:latin typeface="Plus Jakarta Sans"/>
                <a:ea typeface="Plus Jakarta Sans"/>
                <a:cs typeface="Plus Jakarta Sans"/>
                <a:sym typeface="Plus Jakarta Sans"/>
              </a:rPr>
              <a:t> sang </a:t>
            </a:r>
            <a:r>
              <a:rPr lang="en-US" sz="1600" b="0" i="0" u="none" strike="noStrike" cap="none" dirty="0" err="1">
                <a:solidFill>
                  <a:srgbClr val="4A5560"/>
                </a:solidFill>
                <a:latin typeface="Plus Jakarta Sans"/>
                <a:ea typeface="Plus Jakarta Sans"/>
                <a:cs typeface="Plus Jakarta Sans"/>
                <a:sym typeface="Plus Jakarta Sans"/>
              </a:rPr>
              <a:t>dùng</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thử</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thường</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xuyên</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của</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thương</a:t>
            </a:r>
            <a:r>
              <a:rPr lang="en-US" sz="1600" b="0" i="0" u="none" strike="noStrike" cap="none" dirty="0">
                <a:solidFill>
                  <a:srgbClr val="4A5560"/>
                </a:solidFill>
                <a:latin typeface="Plus Jakarta Sans"/>
                <a:ea typeface="Plus Jakarta Sans"/>
                <a:cs typeface="Plus Jakarta Sans"/>
                <a:sym typeface="Plus Jakarta Sans"/>
              </a:rPr>
              <a:t> </a:t>
            </a:r>
            <a:r>
              <a:rPr lang="en-US" sz="1600" b="0" i="0" u="none" strike="noStrike" cap="none" dirty="0" err="1">
                <a:solidFill>
                  <a:srgbClr val="4A5560"/>
                </a:solidFill>
                <a:latin typeface="Plus Jakarta Sans"/>
                <a:ea typeface="Plus Jakarta Sans"/>
                <a:cs typeface="Plus Jakarta Sans"/>
                <a:sym typeface="Plus Jakarta Sans"/>
              </a:rPr>
              <a:t>hiệu</a:t>
            </a:r>
            <a:r>
              <a:rPr lang="en-US" sz="1600" b="0" i="0" u="none" strike="noStrike" cap="none" dirty="0">
                <a:solidFill>
                  <a:srgbClr val="4A5560"/>
                </a:solidFill>
                <a:latin typeface="Plus Jakarta Sans"/>
                <a:ea typeface="Plus Jakarta Sans"/>
                <a:cs typeface="Plus Jakarta Sans"/>
                <a:sym typeface="Plus Jakarta Sans"/>
              </a:rPr>
              <a:t>.</a:t>
            </a:r>
            <a:endParaRPr sz="2400" dirty="0"/>
          </a:p>
        </p:txBody>
      </p:sp>
      <p:pic>
        <p:nvPicPr>
          <p:cNvPr id="194" name="Google Shape;194;p20" descr="image.png"/>
          <p:cNvPicPr preferRelativeResize="0"/>
          <p:nvPr/>
        </p:nvPicPr>
        <p:blipFill rotWithShape="1">
          <a:blip r:embed="rId4">
            <a:alphaModFix/>
          </a:blip>
          <a:srcRect/>
          <a:stretch/>
        </p:blipFill>
        <p:spPr>
          <a:xfrm>
            <a:off x="6042421" y="1992510"/>
            <a:ext cx="5559028" cy="3600450"/>
          </a:xfrm>
          <a:prstGeom prst="rect">
            <a:avLst/>
          </a:prstGeom>
          <a:noFill/>
          <a:ln>
            <a:noFill/>
          </a:ln>
        </p:spPr>
      </p:pic>
      <p:sp>
        <p:nvSpPr>
          <p:cNvPr id="195" name="Google Shape;195;p20"/>
          <p:cNvSpPr txBox="1"/>
          <p:nvPr/>
        </p:nvSpPr>
        <p:spPr>
          <a:xfrm>
            <a:off x="571499" y="179113"/>
            <a:ext cx="110299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Phân</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tích</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rào</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cản</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Cozy</a:t>
            </a:r>
            <a:endParaRPr sz="1800" dirty="0"/>
          </a:p>
        </p:txBody>
      </p:sp>
      <p:sp>
        <p:nvSpPr>
          <p:cNvPr id="196" name="Google Shape;196;p20"/>
          <p:cNvSpPr/>
          <p:nvPr/>
        </p:nvSpPr>
        <p:spPr>
          <a:xfrm>
            <a:off x="581025" y="1101773"/>
            <a:ext cx="11029950" cy="9525"/>
          </a:xfrm>
          <a:prstGeom prst="rect">
            <a:avLst/>
          </a:prstGeom>
          <a:solidFill>
            <a:srgbClr val="0F4C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201"/>
        <p:cNvGrpSpPr/>
        <p:nvPr/>
      </p:nvGrpSpPr>
      <p:grpSpPr>
        <a:xfrm>
          <a:off x="0" y="0"/>
          <a:ext cx="0" cy="0"/>
          <a:chOff x="0" y="0"/>
          <a:chExt cx="0" cy="0"/>
        </a:xfrm>
      </p:grpSpPr>
      <p:pic>
        <p:nvPicPr>
          <p:cNvPr id="203" name="Google Shape;203;p21" descr="image.png"/>
          <p:cNvPicPr preferRelativeResize="0"/>
          <p:nvPr/>
        </p:nvPicPr>
        <p:blipFill rotWithShape="1">
          <a:blip r:embed="rId3">
            <a:alphaModFix/>
          </a:blip>
          <a:srcRect/>
          <a:stretch/>
        </p:blipFill>
        <p:spPr>
          <a:xfrm>
            <a:off x="581000" y="1463812"/>
            <a:ext cx="11029950" cy="5158829"/>
          </a:xfrm>
          <a:prstGeom prst="rect">
            <a:avLst/>
          </a:prstGeom>
          <a:noFill/>
          <a:ln>
            <a:noFill/>
          </a:ln>
        </p:spPr>
      </p:pic>
      <p:sp>
        <p:nvSpPr>
          <p:cNvPr id="204" name="Google Shape;204;p21"/>
          <p:cNvSpPr txBox="1"/>
          <p:nvPr/>
        </p:nvSpPr>
        <p:spPr>
          <a:xfrm>
            <a:off x="581000" y="600320"/>
            <a:ext cx="7225813" cy="664797"/>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3600" b="1" i="0" u="none" strike="noStrike" cap="none" dirty="0">
                <a:solidFill>
                  <a:srgbClr val="0F4C43"/>
                </a:solidFill>
                <a:latin typeface="Playfair Display"/>
                <a:ea typeface="Playfair Display"/>
                <a:cs typeface="Playfair Display"/>
                <a:sym typeface="Playfair Display"/>
              </a:rPr>
              <a:t>So </a:t>
            </a:r>
            <a:r>
              <a:rPr lang="en-US" sz="3600" b="1" i="0" u="none" strike="noStrike" cap="none" dirty="0" err="1">
                <a:solidFill>
                  <a:srgbClr val="0F4C43"/>
                </a:solidFill>
                <a:latin typeface="Playfair Display"/>
                <a:ea typeface="Playfair Display"/>
                <a:cs typeface="Playfair Display"/>
                <a:sym typeface="Playfair Display"/>
              </a:rPr>
              <a:t>sánh</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các</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rào</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cản</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mua</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hàng</a:t>
            </a:r>
            <a:endParaRPr sz="3600" dirty="0"/>
          </a:p>
        </p:txBody>
      </p:sp>
      <p:graphicFrame>
        <p:nvGraphicFramePr>
          <p:cNvPr id="205" name="Google Shape;205;p21"/>
          <p:cNvGraphicFramePr/>
          <p:nvPr>
            <p:extLst>
              <p:ext uri="{D42A27DB-BD31-4B8C-83A1-F6EECF244321}">
                <p14:modId xmlns:p14="http://schemas.microsoft.com/office/powerpoint/2010/main" val="4136126140"/>
              </p:ext>
            </p:extLst>
          </p:nvPr>
        </p:nvGraphicFramePr>
        <p:xfrm>
          <a:off x="487145" y="1874840"/>
          <a:ext cx="11217660" cy="3305244"/>
        </p:xfrm>
        <a:graphic>
          <a:graphicData uri="http://schemas.openxmlformats.org/drawingml/2006/table">
            <a:tbl>
              <a:tblPr firstRow="1" bandRow="1">
                <a:tableStyleId>{2D5ABB26-0587-4C30-8999-92F81FD0307C}</a:tableStyleId>
              </a:tblPr>
              <a:tblGrid>
                <a:gridCol w="3589531">
                  <a:extLst>
                    <a:ext uri="{9D8B030D-6E8A-4147-A177-3AD203B41FA5}">
                      <a16:colId xmlns:a16="http://schemas.microsoft.com/office/drawing/2014/main" val="20000"/>
                    </a:ext>
                  </a:extLst>
                </a:gridCol>
                <a:gridCol w="1906994">
                  <a:extLst>
                    <a:ext uri="{9D8B030D-6E8A-4147-A177-3AD203B41FA5}">
                      <a16:colId xmlns:a16="http://schemas.microsoft.com/office/drawing/2014/main" val="20001"/>
                    </a:ext>
                  </a:extLst>
                </a:gridCol>
                <a:gridCol w="1906994">
                  <a:extLst>
                    <a:ext uri="{9D8B030D-6E8A-4147-A177-3AD203B41FA5}">
                      <a16:colId xmlns:a16="http://schemas.microsoft.com/office/drawing/2014/main" val="20002"/>
                    </a:ext>
                  </a:extLst>
                </a:gridCol>
                <a:gridCol w="1906994">
                  <a:extLst>
                    <a:ext uri="{9D8B030D-6E8A-4147-A177-3AD203B41FA5}">
                      <a16:colId xmlns:a16="http://schemas.microsoft.com/office/drawing/2014/main" val="20003"/>
                    </a:ext>
                  </a:extLst>
                </a:gridCol>
                <a:gridCol w="1907147">
                  <a:extLst>
                    <a:ext uri="{9D8B030D-6E8A-4147-A177-3AD203B41FA5}">
                      <a16:colId xmlns:a16="http://schemas.microsoft.com/office/drawing/2014/main" val="20004"/>
                    </a:ext>
                  </a:extLst>
                </a:gridCol>
              </a:tblGrid>
              <a:tr h="550874">
                <a:tc>
                  <a:txBody>
                    <a:bodyPr/>
                    <a:lstStyle/>
                    <a:p>
                      <a:pPr marL="0" marR="0" lvl="0" indent="0" algn="l" rtl="0">
                        <a:spcBef>
                          <a:spcPts val="0"/>
                        </a:spcBef>
                        <a:spcAft>
                          <a:spcPts val="0"/>
                        </a:spcAft>
                        <a:buNone/>
                      </a:pP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Lý</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do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từ</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chối</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xem</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xét</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mua</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hàng</a:t>
                      </a:r>
                      <a:endParaRPr sz="3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1"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Trà Cozy</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1"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C2</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1"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OLong Tea+</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1"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Không Độ</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50874">
                <a:tc>
                  <a:txBody>
                    <a:bodyPr/>
                    <a:lstStyle/>
                    <a:p>
                      <a:pPr marL="0" marR="0" lvl="0" indent="0" algn="l" rtl="0">
                        <a:spcBef>
                          <a:spcPts val="0"/>
                        </a:spcBef>
                        <a:spcAft>
                          <a:spcPts val="0"/>
                        </a:spcAft>
                        <a:buNone/>
                      </a:pP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Không</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thích</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vị</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hương</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vị</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không</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ngon</a:t>
                      </a:r>
                      <a:endParaRPr sz="3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1"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19.5%</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3.8%</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3.8%</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4.4%</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50874">
                <a:tc>
                  <a:txBody>
                    <a:bodyPr/>
                    <a:lstStyle/>
                    <a:p>
                      <a:pPr marL="0" marR="0" lvl="0" indent="0" algn="l" rtl="0">
                        <a:spcBef>
                          <a:spcPts val="0"/>
                        </a:spcBef>
                        <a:spcAft>
                          <a:spcPts val="0"/>
                        </a:spcAft>
                        <a:buNone/>
                      </a:pP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Không</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có</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đủ</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hương</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vị</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để</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lựa</a:t>
                      </a: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1"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chọn</a:t>
                      </a:r>
                      <a:endParaRPr sz="3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1"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11.9%</a:t>
                      </a:r>
                      <a:endParaRPr sz="3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4.1%</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4.2%</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6.2%</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50874">
                <a:tc>
                  <a:txBody>
                    <a:bodyPr/>
                    <a:lstStyle/>
                    <a:p>
                      <a:pPr marL="0" marR="0" lvl="0" indent="0" algn="l" rtl="0">
                        <a:spcBef>
                          <a:spcPts val="0"/>
                        </a:spcBef>
                        <a:spcAft>
                          <a:spcPts val="0"/>
                        </a:spcAft>
                        <a:buNone/>
                      </a:pP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Hỏi</a:t>
                      </a: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mua</a:t>
                      </a: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nhưng</a:t>
                      </a: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cửa</a:t>
                      </a: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hàng</a:t>
                      </a: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không</a:t>
                      </a: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có</a:t>
                      </a: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sẵn</a:t>
                      </a:r>
                      <a:endParaRPr sz="3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5.5%</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2.0%</a:t>
                      </a:r>
                      <a:endParaRPr sz="3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2.6%</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5.0%</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50874">
                <a:tc>
                  <a:txBody>
                    <a:bodyPr/>
                    <a:lstStyle/>
                    <a:p>
                      <a:pPr marL="0" marR="0" lvl="0" indent="0" algn="l"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Trưng bày không ướp lạnh tại điểm bán</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5.3%</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2.3%</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3.8%</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4.2%</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50874">
                <a:tc>
                  <a:txBody>
                    <a:bodyPr/>
                    <a:lstStyle/>
                    <a:p>
                      <a:pPr marL="0" marR="0" lvl="0" indent="0" algn="l" rtl="0">
                        <a:spcBef>
                          <a:spcPts val="0"/>
                        </a:spcBef>
                        <a:spcAft>
                          <a:spcPts val="0"/>
                        </a:spcAft>
                        <a:buNone/>
                      </a:pP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Giá</a:t>
                      </a: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thành</a:t>
                      </a: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đắt</a:t>
                      </a: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hơn</a:t>
                      </a: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kỳ</a:t>
                      </a: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 </a:t>
                      </a:r>
                      <a:r>
                        <a:rPr lang="en-US" sz="1600" b="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vọng</a:t>
                      </a:r>
                      <a:endParaRPr sz="3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3.8%</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1.4%</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1.6%</a:t>
                      </a:r>
                      <a:endParaRPr sz="3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Plus Jakarta Sans"/>
                        </a:rPr>
                        <a:t>3.8%</a:t>
                      </a:r>
                      <a:endParaRPr sz="3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31" name="Google Shape;231;p21"/>
          <p:cNvSpPr txBox="1"/>
          <p:nvPr/>
        </p:nvSpPr>
        <p:spPr>
          <a:xfrm>
            <a:off x="581000" y="303949"/>
            <a:ext cx="110299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C97A53"/>
                </a:solidFill>
                <a:latin typeface="Plus Jakarta Sans SemiBold"/>
                <a:ea typeface="Plus Jakarta Sans SemiBold"/>
                <a:cs typeface="Plus Jakarta Sans SemiBold"/>
                <a:sym typeface="Plus Jakarta Sans SemiBold"/>
              </a:rPr>
              <a:t>Barrier Comparison Matrix</a:t>
            </a:r>
            <a:endParaRPr sz="1800" dirty="0"/>
          </a:p>
        </p:txBody>
      </p:sp>
      <p:sp>
        <p:nvSpPr>
          <p:cNvPr id="232" name="Google Shape;232;p21"/>
          <p:cNvSpPr/>
          <p:nvPr/>
        </p:nvSpPr>
        <p:spPr>
          <a:xfrm>
            <a:off x="581000" y="1213607"/>
            <a:ext cx="11029950" cy="9525"/>
          </a:xfrm>
          <a:prstGeom prst="rect">
            <a:avLst/>
          </a:prstGeom>
          <a:solidFill>
            <a:srgbClr val="0F4C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237"/>
        <p:cNvGrpSpPr/>
        <p:nvPr/>
      </p:nvGrpSpPr>
      <p:grpSpPr>
        <a:xfrm>
          <a:off x="0" y="0"/>
          <a:ext cx="0" cy="0"/>
          <a:chOff x="0" y="0"/>
          <a:chExt cx="0" cy="0"/>
        </a:xfrm>
      </p:grpSpPr>
      <p:pic>
        <p:nvPicPr>
          <p:cNvPr id="239" name="Google Shape;239;p22" descr="image.png"/>
          <p:cNvPicPr preferRelativeResize="0"/>
          <p:nvPr/>
        </p:nvPicPr>
        <p:blipFill rotWithShape="1">
          <a:blip r:embed="rId3">
            <a:alphaModFix/>
          </a:blip>
          <a:srcRect/>
          <a:stretch/>
        </p:blipFill>
        <p:spPr>
          <a:xfrm>
            <a:off x="581025" y="2797373"/>
            <a:ext cx="3549550" cy="2177750"/>
          </a:xfrm>
          <a:prstGeom prst="rect">
            <a:avLst/>
          </a:prstGeom>
          <a:noFill/>
          <a:ln>
            <a:noFill/>
          </a:ln>
        </p:spPr>
      </p:pic>
      <p:pic>
        <p:nvPicPr>
          <p:cNvPr id="240" name="Google Shape;240;p22" descr="image.png"/>
          <p:cNvPicPr preferRelativeResize="0"/>
          <p:nvPr/>
        </p:nvPicPr>
        <p:blipFill rotWithShape="1">
          <a:blip r:embed="rId4">
            <a:alphaModFix/>
          </a:blip>
          <a:srcRect/>
          <a:stretch/>
        </p:blipFill>
        <p:spPr>
          <a:xfrm>
            <a:off x="4321075" y="2797373"/>
            <a:ext cx="3549699" cy="2177750"/>
          </a:xfrm>
          <a:prstGeom prst="rect">
            <a:avLst/>
          </a:prstGeom>
          <a:noFill/>
          <a:ln>
            <a:noFill/>
          </a:ln>
        </p:spPr>
      </p:pic>
      <p:pic>
        <p:nvPicPr>
          <p:cNvPr id="241" name="Google Shape;241;p22" descr="image.png"/>
          <p:cNvPicPr preferRelativeResize="0"/>
          <p:nvPr/>
        </p:nvPicPr>
        <p:blipFill rotWithShape="1">
          <a:blip r:embed="rId5">
            <a:alphaModFix/>
          </a:blip>
          <a:srcRect/>
          <a:stretch/>
        </p:blipFill>
        <p:spPr>
          <a:xfrm>
            <a:off x="8061275" y="2797373"/>
            <a:ext cx="3549550" cy="2177750"/>
          </a:xfrm>
          <a:prstGeom prst="rect">
            <a:avLst/>
          </a:prstGeom>
          <a:noFill/>
          <a:ln>
            <a:noFill/>
          </a:ln>
        </p:spPr>
      </p:pic>
      <p:sp>
        <p:nvSpPr>
          <p:cNvPr id="242" name="Google Shape;242;p22"/>
          <p:cNvSpPr txBox="1"/>
          <p:nvPr/>
        </p:nvSpPr>
        <p:spPr>
          <a:xfrm>
            <a:off x="581025" y="813700"/>
            <a:ext cx="8464652" cy="664797"/>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3600" b="1" i="0" u="none" strike="noStrike" cap="none" dirty="0" err="1">
                <a:solidFill>
                  <a:srgbClr val="0F4C43"/>
                </a:solidFill>
                <a:latin typeface="Playfair Display"/>
                <a:ea typeface="Playfair Display"/>
                <a:cs typeface="Playfair Display"/>
                <a:sym typeface="Playfair Display"/>
              </a:rPr>
              <a:t>Kênh</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truyền</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thông</a:t>
            </a:r>
            <a:r>
              <a:rPr lang="en-US" sz="3600" b="1" i="0" u="none" strike="noStrike" cap="none" dirty="0">
                <a:solidFill>
                  <a:srgbClr val="0F4C43"/>
                </a:solidFill>
                <a:latin typeface="Playfair Display"/>
                <a:ea typeface="Playfair Display"/>
                <a:cs typeface="Playfair Display"/>
                <a:sym typeface="Playfair Display"/>
              </a:rPr>
              <a:t> &amp; </a:t>
            </a:r>
            <a:r>
              <a:rPr lang="en-US" sz="3600" b="1" i="0" u="none" strike="noStrike" cap="none" dirty="0" err="1">
                <a:solidFill>
                  <a:srgbClr val="0F4C43"/>
                </a:solidFill>
                <a:latin typeface="Playfair Display"/>
                <a:ea typeface="Playfair Display"/>
                <a:cs typeface="Playfair Display"/>
                <a:sym typeface="Playfair Display"/>
              </a:rPr>
              <a:t>Điểm</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mua</a:t>
            </a:r>
            <a:endParaRPr sz="3600" dirty="0"/>
          </a:p>
        </p:txBody>
      </p:sp>
      <p:sp>
        <p:nvSpPr>
          <p:cNvPr id="243" name="Google Shape;243;p22"/>
          <p:cNvSpPr txBox="1"/>
          <p:nvPr/>
        </p:nvSpPr>
        <p:spPr>
          <a:xfrm>
            <a:off x="809625" y="3540323"/>
            <a:ext cx="3246968"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0F4C43"/>
                </a:solidFill>
                <a:latin typeface="Playfair Display"/>
                <a:ea typeface="Playfair Display"/>
                <a:cs typeface="Playfair Display"/>
                <a:sym typeface="Playfair Display"/>
              </a:rPr>
              <a:t>Tập hóa là kênh cốt lõi</a:t>
            </a:r>
            <a:endParaRPr sz="1600"/>
          </a:p>
        </p:txBody>
      </p:sp>
      <p:sp>
        <p:nvSpPr>
          <p:cNvPr id="244" name="Google Shape;244;p22"/>
          <p:cNvSpPr txBox="1"/>
          <p:nvPr/>
        </p:nvSpPr>
        <p:spPr>
          <a:xfrm>
            <a:off x="809625" y="3845123"/>
            <a:ext cx="3092350" cy="923330"/>
          </a:xfrm>
          <a:prstGeom prst="rect">
            <a:avLst/>
          </a:prstGeom>
          <a:noFill/>
          <a:ln>
            <a:noFill/>
          </a:ln>
        </p:spPr>
        <p:txBody>
          <a:bodyPr spcFirstLastPara="1" wrap="square" lIns="0" tIns="0" rIns="0" bIns="0" anchor="t" anchorCtr="0">
            <a:spAutoFit/>
          </a:bodyPr>
          <a:lstStyle/>
          <a:p>
            <a:pPr marL="0" marR="0" lvl="0" indent="0" algn="l" rtl="0">
              <a:lnSpc>
                <a:spcPct val="150053"/>
              </a:lnSpc>
              <a:spcBef>
                <a:spcPts val="0"/>
              </a:spcBef>
              <a:spcAft>
                <a:spcPts val="0"/>
              </a:spcAft>
              <a:buNone/>
            </a:pPr>
            <a:r>
              <a:rPr lang="en-US" sz="1000" b="0" i="0" u="none" strike="noStrike" cap="none" dirty="0" err="1">
                <a:solidFill>
                  <a:srgbClr val="4A5560"/>
                </a:solidFill>
                <a:latin typeface="Plus Jakarta Sans"/>
                <a:ea typeface="Plus Jakarta Sans"/>
                <a:cs typeface="Plus Jakarta Sans"/>
                <a:sym typeface="Plus Jakarta Sans"/>
              </a:rPr>
              <a:t>Các</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cửa</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hàng</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tạp</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hóa</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truyền</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thống</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đóng</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vai</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trò</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quyết</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định</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chiếm</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tới</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a:solidFill>
                  <a:srgbClr val="0F4C43"/>
                </a:solidFill>
                <a:latin typeface="Plus Jakarta Sans SemiBold"/>
                <a:ea typeface="Plus Jakarta Sans SemiBold"/>
                <a:cs typeface="Plus Jakarta Sans SemiBold"/>
                <a:sym typeface="Plus Jakarta Sans SemiBold"/>
              </a:rPr>
              <a:t>62.9% </a:t>
            </a:r>
            <a:r>
              <a:rPr lang="en-US" sz="1000" b="0" i="0" u="none" strike="noStrike" cap="none" dirty="0" err="1">
                <a:solidFill>
                  <a:srgbClr val="0F4C43"/>
                </a:solidFill>
                <a:latin typeface="Plus Jakarta Sans SemiBold"/>
                <a:ea typeface="Plus Jakarta Sans SemiBold"/>
                <a:cs typeface="Plus Jakarta Sans SemiBold"/>
                <a:sym typeface="Plus Jakarta Sans SemiBold"/>
              </a:rPr>
              <a:t>hành</a:t>
            </a:r>
            <a:r>
              <a:rPr lang="en-US" sz="1000" b="0" i="0" u="none" strike="noStrike" cap="none" dirty="0">
                <a:solidFill>
                  <a:srgbClr val="0F4C43"/>
                </a:solidFill>
                <a:latin typeface="Plus Jakarta Sans SemiBold"/>
                <a:ea typeface="Plus Jakarta Sans SemiBold"/>
                <a:cs typeface="Plus Jakarta Sans SemiBold"/>
                <a:sym typeface="Plus Jakarta Sans SemiBold"/>
              </a:rPr>
              <a:t> vi </a:t>
            </a:r>
            <a:r>
              <a:rPr lang="en-US" sz="1000" b="0" i="0" u="none" strike="noStrike" cap="none" dirty="0" err="1">
                <a:solidFill>
                  <a:srgbClr val="0F4C43"/>
                </a:solidFill>
                <a:latin typeface="Plus Jakarta Sans SemiBold"/>
                <a:ea typeface="Plus Jakarta Sans SemiBold"/>
                <a:cs typeface="Plus Jakarta Sans SemiBold"/>
                <a:sym typeface="Plus Jakarta Sans SemiBold"/>
              </a:rPr>
              <a:t>mua</a:t>
            </a:r>
            <a:r>
              <a:rPr lang="en-US" sz="1000" b="0" i="0" u="none" strike="noStrike" cap="none" dirty="0">
                <a:solidFill>
                  <a:srgbClr val="0F4C43"/>
                </a:solidFill>
                <a:latin typeface="Plus Jakarta Sans SemiBold"/>
                <a:ea typeface="Plus Jakarta Sans SemiBold"/>
                <a:cs typeface="Plus Jakarta Sans SemiBold"/>
                <a:sym typeface="Plus Jakarta Sans SemiBold"/>
              </a:rPr>
              <a:t> </a:t>
            </a:r>
            <a:r>
              <a:rPr lang="en-US" sz="1000" b="0" i="0" u="none" strike="noStrike" cap="none" dirty="0" err="1">
                <a:solidFill>
                  <a:srgbClr val="0F4C43"/>
                </a:solidFill>
                <a:latin typeface="Plus Jakarta Sans SemiBold"/>
                <a:ea typeface="Plus Jakarta Sans SemiBold"/>
                <a:cs typeface="Plus Jakarta Sans SemiBold"/>
                <a:sym typeface="Plus Jakarta Sans SemiBold"/>
              </a:rPr>
              <a:t>cuối</a:t>
            </a:r>
            <a:r>
              <a:rPr lang="en-US" sz="1000" b="0" i="0" u="none" strike="noStrike" cap="none" dirty="0">
                <a:solidFill>
                  <a:srgbClr val="0F4C43"/>
                </a:solidFill>
                <a:latin typeface="Plus Jakarta Sans SemiBold"/>
                <a:ea typeface="Plus Jakarta Sans SemiBold"/>
                <a:cs typeface="Plus Jakarta Sans SemiBold"/>
                <a:sym typeface="Plus Jakarta Sans SemiBold"/>
              </a:rPr>
              <a:t> </a:t>
            </a:r>
            <a:r>
              <a:rPr lang="en-US" sz="1000" b="0" i="0" u="none" strike="noStrike" cap="none" dirty="0" err="1">
                <a:solidFill>
                  <a:srgbClr val="0F4C43"/>
                </a:solidFill>
                <a:latin typeface="Plus Jakarta Sans SemiBold"/>
                <a:ea typeface="Plus Jakarta Sans SemiBold"/>
                <a:cs typeface="Plus Jakarta Sans SemiBold"/>
                <a:sym typeface="Plus Jakarta Sans SemiBold"/>
              </a:rPr>
              <a:t>cùng</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của</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khách</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hàng</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Trà</a:t>
            </a:r>
            <a:r>
              <a:rPr lang="en-US" sz="1000" b="0" i="0" u="none" strike="noStrike" cap="none" dirty="0">
                <a:solidFill>
                  <a:srgbClr val="4A5560"/>
                </a:solidFill>
                <a:latin typeface="Plus Jakarta Sans"/>
                <a:ea typeface="Plus Jakarta Sans"/>
                <a:cs typeface="Plus Jakarta Sans"/>
                <a:sym typeface="Plus Jakarta Sans"/>
              </a:rPr>
              <a:t> Cozy. </a:t>
            </a:r>
            <a:r>
              <a:rPr lang="en-US" sz="1000" b="0" i="0" u="none" strike="noStrike" cap="none" dirty="0" err="1">
                <a:solidFill>
                  <a:srgbClr val="4A5560"/>
                </a:solidFill>
                <a:latin typeface="Plus Jakarta Sans"/>
                <a:ea typeface="Plus Jakarta Sans"/>
                <a:cs typeface="Plus Jakarta Sans"/>
                <a:sym typeface="Plus Jakarta Sans"/>
              </a:rPr>
              <a:t>Đảm</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bảo</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độ</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phủ</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tại</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tạp</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hóa</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là</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sống</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còn</a:t>
            </a:r>
            <a:r>
              <a:rPr lang="en-US" sz="1000" b="0" i="0" u="none" strike="noStrike" cap="none" dirty="0">
                <a:solidFill>
                  <a:srgbClr val="4A5560"/>
                </a:solidFill>
                <a:latin typeface="Plus Jakarta Sans"/>
                <a:ea typeface="Plus Jakarta Sans"/>
                <a:cs typeface="Plus Jakarta Sans"/>
                <a:sym typeface="Plus Jakarta Sans"/>
              </a:rPr>
              <a:t>.</a:t>
            </a:r>
            <a:endParaRPr sz="1600" dirty="0"/>
          </a:p>
        </p:txBody>
      </p:sp>
      <p:sp>
        <p:nvSpPr>
          <p:cNvPr id="245" name="Google Shape;245;p22"/>
          <p:cNvSpPr txBox="1"/>
          <p:nvPr/>
        </p:nvSpPr>
        <p:spPr>
          <a:xfrm>
            <a:off x="4549675" y="3540323"/>
            <a:ext cx="324712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0F4C43"/>
                </a:solidFill>
                <a:latin typeface="Playfair Display"/>
                <a:ea typeface="Playfair Display"/>
                <a:cs typeface="Playfair Display"/>
                <a:sym typeface="Playfair Display"/>
              </a:rPr>
              <a:t>Ưu thế vượt trội tại café</a:t>
            </a:r>
            <a:endParaRPr sz="1600"/>
          </a:p>
        </p:txBody>
      </p:sp>
      <p:sp>
        <p:nvSpPr>
          <p:cNvPr id="246" name="Google Shape;246;p22"/>
          <p:cNvSpPr txBox="1"/>
          <p:nvPr/>
        </p:nvSpPr>
        <p:spPr>
          <a:xfrm>
            <a:off x="4549675" y="3845123"/>
            <a:ext cx="3092499" cy="923330"/>
          </a:xfrm>
          <a:prstGeom prst="rect">
            <a:avLst/>
          </a:prstGeom>
          <a:noFill/>
          <a:ln>
            <a:noFill/>
          </a:ln>
        </p:spPr>
        <p:txBody>
          <a:bodyPr spcFirstLastPara="1" wrap="square" lIns="0" tIns="0" rIns="0" bIns="0" anchor="t" anchorCtr="0">
            <a:spAutoFit/>
          </a:bodyPr>
          <a:lstStyle/>
          <a:p>
            <a:pPr marL="0" marR="0" lvl="0" indent="0" algn="l" rtl="0">
              <a:lnSpc>
                <a:spcPct val="150053"/>
              </a:lnSpc>
              <a:spcBef>
                <a:spcPts val="0"/>
              </a:spcBef>
              <a:spcAft>
                <a:spcPts val="0"/>
              </a:spcAft>
              <a:buNone/>
            </a:pPr>
            <a:r>
              <a:rPr lang="en-US" sz="1000" b="0" i="0" u="none" strike="noStrike" cap="none" dirty="0">
                <a:solidFill>
                  <a:srgbClr val="4A5560"/>
                </a:solidFill>
                <a:latin typeface="Plus Jakarta Sans"/>
                <a:ea typeface="Plus Jakarta Sans"/>
                <a:cs typeface="Plus Jakarta Sans"/>
                <a:sym typeface="Plus Jakarta Sans"/>
              </a:rPr>
              <a:t>Cozy </a:t>
            </a:r>
            <a:r>
              <a:rPr lang="en-US" sz="1000" b="0" i="0" u="none" strike="noStrike" cap="none" dirty="0" err="1">
                <a:solidFill>
                  <a:srgbClr val="4A5560"/>
                </a:solidFill>
                <a:latin typeface="Plus Jakarta Sans"/>
                <a:ea typeface="Plus Jakarta Sans"/>
                <a:cs typeface="Plus Jakarta Sans"/>
                <a:sym typeface="Plus Jakarta Sans"/>
              </a:rPr>
              <a:t>sở</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hữu</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tỷ</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lệ</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mua</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tại</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kênh</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HoReCa</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Quán</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nước</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cà</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phê</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đường</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phố</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đạt</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a:solidFill>
                  <a:srgbClr val="0F4C43"/>
                </a:solidFill>
                <a:latin typeface="Plus Jakarta Sans SemiBold"/>
                <a:ea typeface="Plus Jakarta Sans SemiBold"/>
                <a:cs typeface="Plus Jakarta Sans SemiBold"/>
                <a:sym typeface="Plus Jakarta Sans SemiBold"/>
              </a:rPr>
              <a:t>13.6% - </a:t>
            </a:r>
            <a:r>
              <a:rPr lang="en-US" sz="1000" b="0" i="0" u="none" strike="noStrike" cap="none" dirty="0" err="1">
                <a:solidFill>
                  <a:srgbClr val="0F4C43"/>
                </a:solidFill>
                <a:latin typeface="Plus Jakarta Sans SemiBold"/>
                <a:ea typeface="Plus Jakarta Sans SemiBold"/>
                <a:cs typeface="Plus Jakarta Sans SemiBold"/>
                <a:sym typeface="Plus Jakarta Sans SemiBold"/>
              </a:rPr>
              <a:t>cao</a:t>
            </a:r>
            <a:r>
              <a:rPr lang="en-US" sz="1000" b="0" i="0" u="none" strike="noStrike" cap="none" dirty="0">
                <a:solidFill>
                  <a:srgbClr val="0F4C43"/>
                </a:solidFill>
                <a:latin typeface="Plus Jakarta Sans SemiBold"/>
                <a:ea typeface="Plus Jakarta Sans SemiBold"/>
                <a:cs typeface="Plus Jakarta Sans SemiBold"/>
                <a:sym typeface="Plus Jakarta Sans SemiBold"/>
              </a:rPr>
              <a:t> </a:t>
            </a:r>
            <a:r>
              <a:rPr lang="en-US" sz="1000" b="0" i="0" u="none" strike="noStrike" cap="none" dirty="0" err="1">
                <a:solidFill>
                  <a:srgbClr val="0F4C43"/>
                </a:solidFill>
                <a:latin typeface="Plus Jakarta Sans SemiBold"/>
                <a:ea typeface="Plus Jakarta Sans SemiBold"/>
                <a:cs typeface="Plus Jakarta Sans SemiBold"/>
                <a:sym typeface="Plus Jakarta Sans SemiBold"/>
              </a:rPr>
              <a:t>nhất</a:t>
            </a:r>
            <a:r>
              <a:rPr lang="en-US" sz="1000" b="0" i="0" u="none" strike="noStrike" cap="none" dirty="0">
                <a:solidFill>
                  <a:srgbClr val="0F4C43"/>
                </a:solidFill>
                <a:latin typeface="Plus Jakarta Sans SemiBold"/>
                <a:ea typeface="Plus Jakarta Sans SemiBold"/>
                <a:cs typeface="Plus Jakarta Sans SemiBold"/>
                <a:sym typeface="Plus Jakarta Sans SemiBold"/>
              </a:rPr>
              <a:t> </a:t>
            </a:r>
            <a:r>
              <a:rPr lang="en-US" sz="1000" b="0" i="0" u="none" strike="noStrike" cap="none" dirty="0" err="1">
                <a:solidFill>
                  <a:srgbClr val="0F4C43"/>
                </a:solidFill>
                <a:latin typeface="Plus Jakarta Sans SemiBold"/>
                <a:ea typeface="Plus Jakarta Sans SemiBold"/>
                <a:cs typeface="Plus Jakarta Sans SemiBold"/>
                <a:sym typeface="Plus Jakarta Sans SemiBold"/>
              </a:rPr>
              <a:t>thị</a:t>
            </a:r>
            <a:r>
              <a:rPr lang="en-US" sz="1000" b="0" i="0" u="none" strike="noStrike" cap="none" dirty="0">
                <a:solidFill>
                  <a:srgbClr val="0F4C43"/>
                </a:solidFill>
                <a:latin typeface="Plus Jakarta Sans SemiBold"/>
                <a:ea typeface="Plus Jakarta Sans SemiBold"/>
                <a:cs typeface="Plus Jakarta Sans SemiBold"/>
                <a:sym typeface="Plus Jakarta Sans SemiBold"/>
              </a:rPr>
              <a:t> </a:t>
            </a:r>
            <a:r>
              <a:rPr lang="en-US" sz="1000" b="0" i="0" u="none" strike="noStrike" cap="none" dirty="0" err="1">
                <a:solidFill>
                  <a:srgbClr val="0F4C43"/>
                </a:solidFill>
                <a:latin typeface="Plus Jakarta Sans SemiBold"/>
                <a:ea typeface="Plus Jakarta Sans SemiBold"/>
                <a:cs typeface="Plus Jakarta Sans SemiBold"/>
                <a:sym typeface="Plus Jakarta Sans SemiBold"/>
              </a:rPr>
              <a:t>trường</a:t>
            </a:r>
            <a:r>
              <a:rPr lang="en-US" sz="1000" b="0" i="0" u="none" strike="noStrike" cap="none" dirty="0">
                <a:solidFill>
                  <a:srgbClr val="4A5560"/>
                </a:solidFill>
                <a:latin typeface="Plus Jakarta Sans"/>
                <a:ea typeface="Plus Jakarta Sans"/>
                <a:cs typeface="Plus Jakarta Sans"/>
                <a:sym typeface="Plus Jakarta Sans"/>
              </a:rPr>
              <a:t> (C2 </a:t>
            </a:r>
            <a:r>
              <a:rPr lang="en-US" sz="1000" b="0" i="0" u="none" strike="noStrike" cap="none" dirty="0" err="1">
                <a:solidFill>
                  <a:srgbClr val="4A5560"/>
                </a:solidFill>
                <a:latin typeface="Plus Jakarta Sans"/>
                <a:ea typeface="Plus Jakarta Sans"/>
                <a:cs typeface="Plus Jakarta Sans"/>
                <a:sym typeface="Plus Jakarta Sans"/>
              </a:rPr>
              <a:t>chỉ</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đạt</a:t>
            </a:r>
            <a:r>
              <a:rPr lang="en-US" sz="1000" b="0" i="0" u="none" strike="noStrike" cap="none" dirty="0">
                <a:solidFill>
                  <a:srgbClr val="4A5560"/>
                </a:solidFill>
                <a:latin typeface="Plus Jakarta Sans"/>
                <a:ea typeface="Plus Jakarta Sans"/>
                <a:cs typeface="Plus Jakarta Sans"/>
                <a:sym typeface="Plus Jakarta Sans"/>
              </a:rPr>
              <a:t> 8.6%). </a:t>
            </a:r>
            <a:r>
              <a:rPr lang="en-US" sz="1000" b="0" i="0" u="none" strike="noStrike" cap="none" dirty="0" err="1">
                <a:solidFill>
                  <a:srgbClr val="4A5560"/>
                </a:solidFill>
                <a:latin typeface="Plus Jakarta Sans"/>
                <a:ea typeface="Plus Jakarta Sans"/>
                <a:cs typeface="Plus Jakarta Sans"/>
                <a:sym typeface="Plus Jakarta Sans"/>
              </a:rPr>
              <a:t>Đây</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là</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ngách</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phân</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phối</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cực</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kỳ</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tiềm</a:t>
            </a:r>
            <a:r>
              <a:rPr lang="en-US" sz="1000" b="0" i="0" u="none" strike="noStrike" cap="none" dirty="0">
                <a:solidFill>
                  <a:srgbClr val="4A5560"/>
                </a:solidFill>
                <a:latin typeface="Plus Jakarta Sans"/>
                <a:ea typeface="Plus Jakarta Sans"/>
                <a:cs typeface="Plus Jakarta Sans"/>
                <a:sym typeface="Plus Jakarta Sans"/>
              </a:rPr>
              <a:t> </a:t>
            </a:r>
            <a:r>
              <a:rPr lang="en-US" sz="1000" b="0" i="0" u="none" strike="noStrike" cap="none" dirty="0" err="1">
                <a:solidFill>
                  <a:srgbClr val="4A5560"/>
                </a:solidFill>
                <a:latin typeface="Plus Jakarta Sans"/>
                <a:ea typeface="Plus Jakarta Sans"/>
                <a:cs typeface="Plus Jakarta Sans"/>
                <a:sym typeface="Plus Jakarta Sans"/>
              </a:rPr>
              <a:t>năng</a:t>
            </a:r>
            <a:r>
              <a:rPr lang="en-US" sz="1000" b="0" i="0" u="none" strike="noStrike" cap="none" dirty="0">
                <a:solidFill>
                  <a:srgbClr val="4A5560"/>
                </a:solidFill>
                <a:latin typeface="Plus Jakarta Sans"/>
                <a:ea typeface="Plus Jakarta Sans"/>
                <a:cs typeface="Plus Jakarta Sans"/>
                <a:sym typeface="Plus Jakarta Sans"/>
              </a:rPr>
              <a:t>.</a:t>
            </a:r>
            <a:endParaRPr sz="1600" dirty="0"/>
          </a:p>
        </p:txBody>
      </p:sp>
      <p:sp>
        <p:nvSpPr>
          <p:cNvPr id="247" name="Google Shape;247;p22"/>
          <p:cNvSpPr txBox="1"/>
          <p:nvPr/>
        </p:nvSpPr>
        <p:spPr>
          <a:xfrm>
            <a:off x="8289875" y="3540323"/>
            <a:ext cx="3246968"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0F4C43"/>
                </a:solidFill>
                <a:latin typeface="Playfair Display"/>
                <a:ea typeface="Playfair Display"/>
                <a:cs typeface="Playfair Display"/>
                <a:sym typeface="Playfair Display"/>
              </a:rPr>
              <a:t>Trưng bày thay thế quảng cáo</a:t>
            </a:r>
            <a:endParaRPr sz="1600"/>
          </a:p>
        </p:txBody>
      </p:sp>
      <p:sp>
        <p:nvSpPr>
          <p:cNvPr id="248" name="Google Shape;248;p22"/>
          <p:cNvSpPr txBox="1"/>
          <p:nvPr/>
        </p:nvSpPr>
        <p:spPr>
          <a:xfrm>
            <a:off x="8289875" y="3845123"/>
            <a:ext cx="3092350" cy="923330"/>
          </a:xfrm>
          <a:prstGeom prst="rect">
            <a:avLst/>
          </a:prstGeom>
          <a:noFill/>
          <a:ln>
            <a:noFill/>
          </a:ln>
        </p:spPr>
        <p:txBody>
          <a:bodyPr spcFirstLastPara="1" wrap="square" lIns="0" tIns="0" rIns="0" bIns="0" anchor="t" anchorCtr="0">
            <a:spAutoFit/>
          </a:bodyPr>
          <a:lstStyle/>
          <a:p>
            <a:pPr marL="0" marR="0" lvl="0" indent="0" algn="l" rtl="0">
              <a:lnSpc>
                <a:spcPct val="150053"/>
              </a:lnSpc>
              <a:spcBef>
                <a:spcPts val="0"/>
              </a:spcBef>
              <a:spcAft>
                <a:spcPts val="0"/>
              </a:spcAft>
              <a:buNone/>
            </a:pPr>
            <a:r>
              <a:rPr lang="en-US" sz="1000" b="0" i="0" u="none" strike="noStrike" cap="none">
                <a:solidFill>
                  <a:srgbClr val="4A5560"/>
                </a:solidFill>
                <a:latin typeface="Plus Jakarta Sans"/>
                <a:ea typeface="Plus Jakarta Sans"/>
                <a:cs typeface="Plus Jakarta Sans"/>
                <a:sym typeface="Plus Jakarta Sans"/>
              </a:rPr>
              <a:t>Chỉ số tiếp cận qua "Trưng bày tại điểm bán/siêu thị" đạt </a:t>
            </a:r>
            <a:r>
              <a:rPr lang="en-US" sz="1000" b="0" i="0" u="none" strike="noStrike" cap="none">
                <a:solidFill>
                  <a:srgbClr val="0F4C43"/>
                </a:solidFill>
                <a:latin typeface="Plus Jakarta Sans SemiBold"/>
                <a:ea typeface="Plus Jakarta Sans SemiBold"/>
                <a:cs typeface="Plus Jakarta Sans SemiBold"/>
                <a:sym typeface="Plus Jakarta Sans SemiBold"/>
              </a:rPr>
              <a:t>62.0%</a:t>
            </a:r>
            <a:r>
              <a:rPr lang="en-US" sz="1000" b="0" i="0" u="none" strike="noStrike" cap="none">
                <a:solidFill>
                  <a:srgbClr val="4A5560"/>
                </a:solidFill>
                <a:latin typeface="Plus Jakarta Sans"/>
                <a:ea typeface="Plus Jakarta Sans"/>
                <a:cs typeface="Plus Jakarta Sans"/>
                <a:sym typeface="Plus Jakarta Sans"/>
              </a:rPr>
              <a:t>, vượt xa hiệu quả của quảng cáo TV (23.6%) và Internet (11.2%). Điểm bán chính là chiến trường truyên thông thực tế.</a:t>
            </a:r>
            <a:endParaRPr sz="1600"/>
          </a:p>
        </p:txBody>
      </p:sp>
      <p:pic>
        <p:nvPicPr>
          <p:cNvPr id="249" name="Google Shape;249;p22" descr="image.png"/>
          <p:cNvPicPr preferRelativeResize="0"/>
          <p:nvPr/>
        </p:nvPicPr>
        <p:blipFill rotWithShape="1">
          <a:blip r:embed="rId6">
            <a:alphaModFix/>
          </a:blip>
          <a:srcRect/>
          <a:stretch/>
        </p:blipFill>
        <p:spPr>
          <a:xfrm>
            <a:off x="809625" y="3111698"/>
            <a:ext cx="304800" cy="266700"/>
          </a:xfrm>
          <a:prstGeom prst="rect">
            <a:avLst/>
          </a:prstGeom>
          <a:noFill/>
          <a:ln>
            <a:noFill/>
          </a:ln>
        </p:spPr>
      </p:pic>
      <p:pic>
        <p:nvPicPr>
          <p:cNvPr id="250" name="Google Shape;250;p22" descr="image.png"/>
          <p:cNvPicPr preferRelativeResize="0"/>
          <p:nvPr/>
        </p:nvPicPr>
        <p:blipFill rotWithShape="1">
          <a:blip r:embed="rId7">
            <a:alphaModFix/>
          </a:blip>
          <a:srcRect/>
          <a:stretch/>
        </p:blipFill>
        <p:spPr>
          <a:xfrm>
            <a:off x="4549675" y="3111698"/>
            <a:ext cx="266700" cy="266700"/>
          </a:xfrm>
          <a:prstGeom prst="rect">
            <a:avLst/>
          </a:prstGeom>
          <a:noFill/>
          <a:ln>
            <a:noFill/>
          </a:ln>
        </p:spPr>
      </p:pic>
      <p:pic>
        <p:nvPicPr>
          <p:cNvPr id="251" name="Google Shape;251;p22" descr="image.png"/>
          <p:cNvPicPr preferRelativeResize="0"/>
          <p:nvPr/>
        </p:nvPicPr>
        <p:blipFill rotWithShape="1">
          <a:blip r:embed="rId8">
            <a:alphaModFix/>
          </a:blip>
          <a:srcRect/>
          <a:stretch/>
        </p:blipFill>
        <p:spPr>
          <a:xfrm>
            <a:off x="8289875" y="3111698"/>
            <a:ext cx="304800" cy="266700"/>
          </a:xfrm>
          <a:prstGeom prst="rect">
            <a:avLst/>
          </a:prstGeom>
          <a:noFill/>
          <a:ln>
            <a:noFill/>
          </a:ln>
        </p:spPr>
      </p:pic>
      <p:sp>
        <p:nvSpPr>
          <p:cNvPr id="252" name="Google Shape;252;p22"/>
          <p:cNvSpPr txBox="1"/>
          <p:nvPr/>
        </p:nvSpPr>
        <p:spPr>
          <a:xfrm>
            <a:off x="581025" y="438596"/>
            <a:ext cx="110299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C97A53"/>
                </a:solidFill>
                <a:latin typeface="Plus Jakarta Sans SemiBold"/>
                <a:ea typeface="Plus Jakarta Sans SemiBold"/>
                <a:cs typeface="Plus Jakarta Sans SemiBold"/>
                <a:sym typeface="Plus Jakarta Sans SemiBold"/>
              </a:rPr>
              <a:t>Media &amp; Trade Touchpoints</a:t>
            </a:r>
            <a:endParaRPr sz="1800" dirty="0"/>
          </a:p>
        </p:txBody>
      </p:sp>
      <p:sp>
        <p:nvSpPr>
          <p:cNvPr id="253" name="Google Shape;253;p22"/>
          <p:cNvSpPr/>
          <p:nvPr/>
        </p:nvSpPr>
        <p:spPr>
          <a:xfrm>
            <a:off x="506893" y="1508027"/>
            <a:ext cx="11029950" cy="9525"/>
          </a:xfrm>
          <a:prstGeom prst="rect">
            <a:avLst/>
          </a:prstGeom>
          <a:solidFill>
            <a:srgbClr val="0F4C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258"/>
        <p:cNvGrpSpPr/>
        <p:nvPr/>
      </p:nvGrpSpPr>
      <p:grpSpPr>
        <a:xfrm>
          <a:off x="0" y="0"/>
          <a:ext cx="0" cy="0"/>
          <a:chOff x="0" y="0"/>
          <a:chExt cx="0" cy="0"/>
        </a:xfrm>
      </p:grpSpPr>
      <p:pic>
        <p:nvPicPr>
          <p:cNvPr id="260" name="Google Shape;260;p23" descr="image.png"/>
          <p:cNvPicPr preferRelativeResize="0"/>
          <p:nvPr/>
        </p:nvPicPr>
        <p:blipFill rotWithShape="1">
          <a:blip r:embed="rId3">
            <a:alphaModFix/>
          </a:blip>
          <a:srcRect/>
          <a:stretch/>
        </p:blipFill>
        <p:spPr>
          <a:xfrm>
            <a:off x="581025" y="4116585"/>
            <a:ext cx="3308895" cy="1012328"/>
          </a:xfrm>
          <a:prstGeom prst="rect">
            <a:avLst/>
          </a:prstGeom>
          <a:noFill/>
          <a:ln>
            <a:noFill/>
          </a:ln>
        </p:spPr>
      </p:pic>
      <p:pic>
        <p:nvPicPr>
          <p:cNvPr id="261" name="Google Shape;261;p23" descr="image.png"/>
          <p:cNvPicPr preferRelativeResize="0"/>
          <p:nvPr/>
        </p:nvPicPr>
        <p:blipFill rotWithShape="1">
          <a:blip r:embed="rId4">
            <a:alphaModFix/>
          </a:blip>
          <a:srcRect/>
          <a:stretch/>
        </p:blipFill>
        <p:spPr>
          <a:xfrm>
            <a:off x="4441477" y="2837557"/>
            <a:ext cx="3308895" cy="1012328"/>
          </a:xfrm>
          <a:prstGeom prst="rect">
            <a:avLst/>
          </a:prstGeom>
          <a:noFill/>
          <a:ln>
            <a:noFill/>
          </a:ln>
        </p:spPr>
      </p:pic>
      <p:pic>
        <p:nvPicPr>
          <p:cNvPr id="262" name="Google Shape;262;p23" descr="image.png"/>
          <p:cNvPicPr preferRelativeResize="0"/>
          <p:nvPr/>
        </p:nvPicPr>
        <p:blipFill rotWithShape="1">
          <a:blip r:embed="rId5">
            <a:alphaModFix/>
          </a:blip>
          <a:srcRect/>
          <a:stretch/>
        </p:blipFill>
        <p:spPr>
          <a:xfrm>
            <a:off x="8301930" y="4116585"/>
            <a:ext cx="3308895" cy="1012328"/>
          </a:xfrm>
          <a:prstGeom prst="rect">
            <a:avLst/>
          </a:prstGeom>
          <a:noFill/>
          <a:ln>
            <a:noFill/>
          </a:ln>
        </p:spPr>
      </p:pic>
      <p:sp>
        <p:nvSpPr>
          <p:cNvPr id="263" name="Google Shape;263;p23"/>
          <p:cNvSpPr txBox="1"/>
          <p:nvPr/>
        </p:nvSpPr>
        <p:spPr>
          <a:xfrm>
            <a:off x="580875" y="541304"/>
            <a:ext cx="6370531" cy="664797"/>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3600" b="1" i="0" u="none" strike="noStrike" cap="none" dirty="0" err="1">
                <a:solidFill>
                  <a:srgbClr val="0F4C43"/>
                </a:solidFill>
                <a:latin typeface="Playfair Display"/>
                <a:ea typeface="Playfair Display"/>
                <a:cs typeface="Playfair Display"/>
                <a:sym typeface="Playfair Display"/>
              </a:rPr>
              <a:t>Chiến</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lược</a:t>
            </a:r>
            <a:r>
              <a:rPr lang="en-US" sz="3600" b="1" i="0" u="none" strike="noStrike" cap="none" dirty="0">
                <a:solidFill>
                  <a:srgbClr val="0F4C43"/>
                </a:solidFill>
                <a:latin typeface="Playfair Display"/>
                <a:ea typeface="Playfair Display"/>
                <a:cs typeface="Playfair Display"/>
                <a:sym typeface="Playfair Display"/>
              </a:rPr>
              <a:t> 3 </a:t>
            </a:r>
            <a:r>
              <a:rPr lang="en-US" sz="3600" b="1" i="0" u="none" strike="noStrike" cap="none" dirty="0" err="1">
                <a:solidFill>
                  <a:srgbClr val="0F4C43"/>
                </a:solidFill>
                <a:latin typeface="Playfair Display"/>
                <a:ea typeface="Playfair Display"/>
                <a:cs typeface="Playfair Display"/>
                <a:sym typeface="Playfair Display"/>
              </a:rPr>
              <a:t>giai</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đoạn</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bứt</a:t>
            </a:r>
            <a:r>
              <a:rPr lang="en-US" sz="3600" b="1" i="0" u="none" strike="noStrike" cap="none" dirty="0">
                <a:solidFill>
                  <a:srgbClr val="0F4C43"/>
                </a:solidFill>
                <a:latin typeface="Playfair Display"/>
                <a:ea typeface="Playfair Display"/>
                <a:cs typeface="Playfair Display"/>
                <a:sym typeface="Playfair Display"/>
              </a:rPr>
              <a:t> </a:t>
            </a:r>
            <a:r>
              <a:rPr lang="en-US" sz="3600" b="1" i="0" u="none" strike="noStrike" cap="none" dirty="0" err="1">
                <a:solidFill>
                  <a:srgbClr val="0F4C43"/>
                </a:solidFill>
                <a:latin typeface="Playfair Display"/>
                <a:ea typeface="Playfair Display"/>
                <a:cs typeface="Playfair Display"/>
                <a:sym typeface="Playfair Display"/>
              </a:rPr>
              <a:t>phá</a:t>
            </a:r>
            <a:endParaRPr sz="3600" dirty="0"/>
          </a:p>
        </p:txBody>
      </p:sp>
      <p:sp>
        <p:nvSpPr>
          <p:cNvPr id="264" name="Google Shape;264;p23"/>
          <p:cNvSpPr/>
          <p:nvPr/>
        </p:nvSpPr>
        <p:spPr>
          <a:xfrm>
            <a:off x="581025" y="3968948"/>
            <a:ext cx="11029950" cy="28575"/>
          </a:xfrm>
          <a:prstGeom prst="rect">
            <a:avLst/>
          </a:prstGeom>
          <a:solidFill>
            <a:srgbClr val="0F4C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23"/>
          <p:cNvSpPr txBox="1"/>
          <p:nvPr/>
        </p:nvSpPr>
        <p:spPr>
          <a:xfrm>
            <a:off x="658322" y="4268985"/>
            <a:ext cx="3154300" cy="200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0F4C43"/>
                </a:solidFill>
                <a:latin typeface="Playfair Display"/>
                <a:ea typeface="Playfair Display"/>
                <a:cs typeface="Playfair Display"/>
                <a:sym typeface="Playfair Display"/>
              </a:rPr>
              <a:t>GĐ 1: Cải tiến vị giác (0-6M)</a:t>
            </a:r>
            <a:endParaRPr/>
          </a:p>
        </p:txBody>
      </p:sp>
      <p:sp>
        <p:nvSpPr>
          <p:cNvPr id="266" name="Google Shape;266;p23"/>
          <p:cNvSpPr txBox="1"/>
          <p:nvPr/>
        </p:nvSpPr>
        <p:spPr>
          <a:xfrm>
            <a:off x="733425" y="4516635"/>
            <a:ext cx="3004095" cy="459878"/>
          </a:xfrm>
          <a:prstGeom prst="rect">
            <a:avLst/>
          </a:prstGeom>
          <a:noFill/>
          <a:ln>
            <a:noFill/>
          </a:ln>
        </p:spPr>
        <p:txBody>
          <a:bodyPr spcFirstLastPara="1" wrap="square" lIns="0" tIns="0" rIns="0" bIns="0" anchor="t" anchorCtr="0">
            <a:spAutoFit/>
          </a:bodyPr>
          <a:lstStyle/>
          <a:p>
            <a:pPr marL="0" marR="0" lvl="0" indent="0" algn="ctr" rtl="0">
              <a:lnSpc>
                <a:spcPct val="140023"/>
              </a:lnSpc>
              <a:spcBef>
                <a:spcPts val="0"/>
              </a:spcBef>
              <a:spcAft>
                <a:spcPts val="0"/>
              </a:spcAft>
              <a:buNone/>
            </a:pPr>
            <a:r>
              <a:rPr lang="en-US" sz="862" b="0" i="0" u="none" strike="noStrike" cap="none">
                <a:solidFill>
                  <a:srgbClr val="4A5560"/>
                </a:solidFill>
                <a:latin typeface="Plus Jakarta Sans"/>
                <a:ea typeface="Plus Jakarta Sans"/>
                <a:cs typeface="Plus Jakarta Sans"/>
                <a:sym typeface="Plus Jakarta Sans"/>
              </a:rPr>
              <a:t>Nâng cấp công thức cốt trà nguyên bản giảm chát. Phát triển &amp; tung ra danh mục vị xu hướng (Ô Long chanh, Đào sả, Vải) nhằm hóa giải rào cản lựa chọn.</a:t>
            </a:r>
            <a:endParaRPr/>
          </a:p>
        </p:txBody>
      </p:sp>
      <p:sp>
        <p:nvSpPr>
          <p:cNvPr id="267" name="Google Shape;267;p23"/>
          <p:cNvSpPr txBox="1"/>
          <p:nvPr/>
        </p:nvSpPr>
        <p:spPr>
          <a:xfrm>
            <a:off x="4518775" y="2989957"/>
            <a:ext cx="3154300" cy="200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0F4C43"/>
                </a:solidFill>
                <a:latin typeface="Playfair Display"/>
                <a:ea typeface="Playfair Display"/>
                <a:cs typeface="Playfair Display"/>
                <a:sym typeface="Playfair Display"/>
              </a:rPr>
              <a:t>GĐ 2: Đẩy mạnh Trade (6-12M)</a:t>
            </a:r>
            <a:endParaRPr/>
          </a:p>
        </p:txBody>
      </p:sp>
      <p:sp>
        <p:nvSpPr>
          <p:cNvPr id="268" name="Google Shape;268;p23"/>
          <p:cNvSpPr txBox="1"/>
          <p:nvPr/>
        </p:nvSpPr>
        <p:spPr>
          <a:xfrm>
            <a:off x="4593877" y="3237607"/>
            <a:ext cx="3004095" cy="459878"/>
          </a:xfrm>
          <a:prstGeom prst="rect">
            <a:avLst/>
          </a:prstGeom>
          <a:noFill/>
          <a:ln>
            <a:noFill/>
          </a:ln>
        </p:spPr>
        <p:txBody>
          <a:bodyPr spcFirstLastPara="1" wrap="square" lIns="0" tIns="0" rIns="0" bIns="0" anchor="t" anchorCtr="0">
            <a:spAutoFit/>
          </a:bodyPr>
          <a:lstStyle/>
          <a:p>
            <a:pPr marL="0" marR="0" lvl="0" indent="0" algn="ctr" rtl="0">
              <a:lnSpc>
                <a:spcPct val="140023"/>
              </a:lnSpc>
              <a:spcBef>
                <a:spcPts val="0"/>
              </a:spcBef>
              <a:spcAft>
                <a:spcPts val="0"/>
              </a:spcAft>
              <a:buNone/>
            </a:pPr>
            <a:r>
              <a:rPr lang="en-US" sz="862" b="0" i="0" u="none" strike="noStrike" cap="none">
                <a:solidFill>
                  <a:srgbClr val="4A5560"/>
                </a:solidFill>
                <a:latin typeface="Plus Jakarta Sans"/>
                <a:ea typeface="Plus Jakarta Sans"/>
                <a:cs typeface="Plus Jakarta Sans"/>
                <a:sym typeface="Plus Jakarta Sans"/>
              </a:rPr>
              <a:t>Tối ưu hóa độ phủ tại Tạp hóa (kênh mua 62.9%). Hỗ trợ trang thiết bị ướp lạnh, thực hiện chương trình khuyến khích đại lý trưng bày bắt mắt, kích cầu dùng thử.</a:t>
            </a:r>
            <a:endParaRPr/>
          </a:p>
        </p:txBody>
      </p:sp>
      <p:sp>
        <p:nvSpPr>
          <p:cNvPr id="269" name="Google Shape;269;p23"/>
          <p:cNvSpPr txBox="1"/>
          <p:nvPr/>
        </p:nvSpPr>
        <p:spPr>
          <a:xfrm>
            <a:off x="8379228" y="4268985"/>
            <a:ext cx="3154300" cy="200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0F4C43"/>
                </a:solidFill>
                <a:latin typeface="Playfair Display"/>
                <a:ea typeface="Playfair Display"/>
                <a:cs typeface="Playfair Display"/>
                <a:sym typeface="Playfair Display"/>
              </a:rPr>
              <a:t>GĐ 3: Củng cố Healthy (12-24M)</a:t>
            </a:r>
            <a:endParaRPr/>
          </a:p>
        </p:txBody>
      </p:sp>
      <p:sp>
        <p:nvSpPr>
          <p:cNvPr id="270" name="Google Shape;270;p23"/>
          <p:cNvSpPr txBox="1"/>
          <p:nvPr/>
        </p:nvSpPr>
        <p:spPr>
          <a:xfrm>
            <a:off x="8454330" y="4516635"/>
            <a:ext cx="3004095" cy="459878"/>
          </a:xfrm>
          <a:prstGeom prst="rect">
            <a:avLst/>
          </a:prstGeom>
          <a:noFill/>
          <a:ln>
            <a:noFill/>
          </a:ln>
        </p:spPr>
        <p:txBody>
          <a:bodyPr spcFirstLastPara="1" wrap="square" lIns="0" tIns="0" rIns="0" bIns="0" anchor="t" anchorCtr="0">
            <a:spAutoFit/>
          </a:bodyPr>
          <a:lstStyle/>
          <a:p>
            <a:pPr marL="0" marR="0" lvl="0" indent="0" algn="ctr" rtl="0">
              <a:lnSpc>
                <a:spcPct val="140023"/>
              </a:lnSpc>
              <a:spcBef>
                <a:spcPts val="0"/>
              </a:spcBef>
              <a:spcAft>
                <a:spcPts val="0"/>
              </a:spcAft>
              <a:buNone/>
            </a:pPr>
            <a:r>
              <a:rPr lang="en-US" sz="862" b="0" i="0" u="none" strike="noStrike" cap="none">
                <a:solidFill>
                  <a:srgbClr val="4A5560"/>
                </a:solidFill>
                <a:latin typeface="Plus Jakarta Sans"/>
                <a:ea typeface="Plus Jakarta Sans"/>
                <a:cs typeface="Plus Jakarta Sans"/>
                <a:sym typeface="Plus Jakarta Sans"/>
              </a:rPr>
              <a:t>Đẩy mạnh truyền thông định vị "Trà sạch - Healthy nguyên liệu tự nhiên" (lợi thế 50.8%). Khai phá triệt để kênh quán cà phê đường phố (HoReCa) &amp; trường học.</a:t>
            </a:r>
            <a:endParaRPr/>
          </a:p>
        </p:txBody>
      </p:sp>
      <p:sp>
        <p:nvSpPr>
          <p:cNvPr id="271" name="Google Shape;271;p23"/>
          <p:cNvSpPr txBox="1"/>
          <p:nvPr/>
        </p:nvSpPr>
        <p:spPr>
          <a:xfrm>
            <a:off x="580875" y="192868"/>
            <a:ext cx="110299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Định</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hướng</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giải</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pháp</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a:t>
            </a:r>
            <a:r>
              <a:rPr lang="en-US" sz="1800" b="0" i="0" u="none" strike="noStrike" cap="none" dirty="0" err="1">
                <a:solidFill>
                  <a:srgbClr val="C97A53"/>
                </a:solidFill>
                <a:latin typeface="Plus Jakarta Sans SemiBold"/>
                <a:ea typeface="Plus Jakarta Sans SemiBold"/>
                <a:cs typeface="Plus Jakarta Sans SemiBold"/>
                <a:sym typeface="Plus Jakarta Sans SemiBold"/>
              </a:rPr>
              <a:t>cho</a:t>
            </a:r>
            <a:r>
              <a:rPr lang="en-US" sz="1800" b="0" i="0" u="none" strike="noStrike" cap="none" dirty="0">
                <a:solidFill>
                  <a:srgbClr val="C97A53"/>
                </a:solidFill>
                <a:latin typeface="Plus Jakarta Sans SemiBold"/>
                <a:ea typeface="Plus Jakarta Sans SemiBold"/>
                <a:cs typeface="Plus Jakarta Sans SemiBold"/>
                <a:sym typeface="Plus Jakarta Sans SemiBold"/>
              </a:rPr>
              <a:t> Cozy</a:t>
            </a:r>
            <a:endParaRPr sz="1800" dirty="0"/>
          </a:p>
        </p:txBody>
      </p:sp>
      <p:sp>
        <p:nvSpPr>
          <p:cNvPr id="272" name="Google Shape;272;p23"/>
          <p:cNvSpPr/>
          <p:nvPr/>
        </p:nvSpPr>
        <p:spPr>
          <a:xfrm>
            <a:off x="580875" y="1265633"/>
            <a:ext cx="11029950" cy="9525"/>
          </a:xfrm>
          <a:prstGeom prst="rect">
            <a:avLst/>
          </a:prstGeom>
          <a:solidFill>
            <a:srgbClr val="0F4C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4" name="Google Shape;274;p23"/>
          <p:cNvSpPr/>
          <p:nvPr/>
        </p:nvSpPr>
        <p:spPr>
          <a:xfrm>
            <a:off x="2149747" y="3897510"/>
            <a:ext cx="171450" cy="171450"/>
          </a:xfrm>
          <a:prstGeom prst="roundRect">
            <a:avLst>
              <a:gd name="adj" fmla="val 50000"/>
            </a:avLst>
          </a:prstGeom>
          <a:solidFill>
            <a:srgbClr val="FDFBF7"/>
          </a:solidFill>
          <a:ln w="38100" cap="flat" cmpd="sng">
            <a:solidFill>
              <a:srgbClr val="C97A5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23"/>
          <p:cNvSpPr/>
          <p:nvPr/>
        </p:nvSpPr>
        <p:spPr>
          <a:xfrm>
            <a:off x="6010200" y="3897510"/>
            <a:ext cx="171450" cy="171450"/>
          </a:xfrm>
          <a:prstGeom prst="roundRect">
            <a:avLst>
              <a:gd name="adj" fmla="val 50000"/>
            </a:avLst>
          </a:prstGeom>
          <a:solidFill>
            <a:srgbClr val="FDFBF7"/>
          </a:solidFill>
          <a:ln w="38100" cap="flat" cmpd="sng">
            <a:solidFill>
              <a:srgbClr val="C97A5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23"/>
          <p:cNvSpPr/>
          <p:nvPr/>
        </p:nvSpPr>
        <p:spPr>
          <a:xfrm>
            <a:off x="9870653" y="3897510"/>
            <a:ext cx="171450" cy="171450"/>
          </a:xfrm>
          <a:prstGeom prst="roundRect">
            <a:avLst>
              <a:gd name="adj" fmla="val 50000"/>
            </a:avLst>
          </a:prstGeom>
          <a:solidFill>
            <a:srgbClr val="FDFBF7"/>
          </a:solidFill>
          <a:ln w="38100" cap="flat" cmpd="sng">
            <a:solidFill>
              <a:srgbClr val="C97A5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1077</Words>
  <Application>Microsoft Office PowerPoint</Application>
  <PresentationFormat>Widescreen</PresentationFormat>
  <Paragraphs>103</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Plus Jakarta Sans SemiBold</vt:lpstr>
      <vt:lpstr>Arial</vt:lpstr>
      <vt:lpstr>Playfair Display</vt:lpstr>
      <vt:lpstr>Calibri</vt:lpstr>
      <vt:lpstr>Plus Jakarta Sans Medium</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HUIT_ Trương Ngô Phát</dc:creator>
  <cp:lastModifiedBy>Trần Cẩm Tú HUIT -</cp:lastModifiedBy>
  <cp:revision>1</cp:revision>
  <dcterms:modified xsi:type="dcterms:W3CDTF">2026-05-26T05:50:34Z</dcterms:modified>
</cp:coreProperties>
</file>